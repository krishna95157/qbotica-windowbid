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WindowBid takes a window dealer from an architectural drawing set to installed windows. Three stages: Review, Procure, Fulfill. The drawing on the right is the record we will follow: window 5·3, a 30 × 72 inch casement.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takeoff starts with a person and a PDF. A floor plan shows tag 5 in a wall; a schedule on another sheet says what 5 means. Someone matches them by hand, types it into a spreadsheet, and then the same numbers are retyped into the RFQ, the bid comparison, the proposal and the purchase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read the drawings once, let a person confirm what was read, and carry that same record unchanged to installation. Review is real today: uploading, reading, mapping and verification. Procure and Fulfill run on sample manufacturers, prices and dates, and are labelled as a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run on the 37th Place set, 31 pages. Every page gets a quick look first. The schedule is read first, and because it lists every window with a size and a count, that is already the takeoff: 65 windows in 12 products in about a minute. Clicking a product highlights its schedule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background WindowBid finds the floor plan in the PDF and places every scheduled window on it. Here all 65 of 65 land on sheet A-2.1. Counts still come from the schedule; the plan only adds location and room. Orange means read by the machine and not yet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window card explains itself in plain words, shows the callout exactly as it is written on the drawing, and lists where every fact came from. Nothing uncertain is hidden. One Verify all confirms the windows, and Mark Ready for RFQ hands the same record to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 real sets. 37th Place: 65 of 65 windows from the schedule in about a minute, all placed on the plan. 8887-25: two copies of the schedule counted once, 78 windows, 70 placed. RC-Mahesh: a single plan with no schedule, 24 of 25 window sizes read exactly. Next: three accounts, real bids, signatures and permanent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WB-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WB-Title-Top-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WB-Side-Left-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WB-Side-R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B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11480" y="256032"/>
            <a:ext cx="5486400" cy="237744"/>
          </a:xfrm>
          <a:prstGeom prst="rect">
            <a:avLst/>
          </a:prstGeom>
          <a:noFill/>
          <a:ln/>
        </p:spPr>
        <p:txBody>
          <a:bodyPr wrap="square" lIns="0" tIns="0" rIns="0" bIns="0" rtlCol="0" anchor="b"/>
          <a:lstStyle/>
          <a:p>
            <a:pPr indent="0" marL="0">
              <a:buNone/>
            </a:pPr>
            <a:r>
              <a:rPr lang="en-US" sz="1000" dirty="0">
                <a:solidFill>
                  <a:schemeClr val="accent5"/>
                </a:solidFill>
                <a:latin typeface="Consolas" pitchFamily="34" charset="0"/>
                <a:ea typeface="Consolas" pitchFamily="34" charset="-122"/>
                <a:cs typeface="Consolas" pitchFamily="34" charset="-120"/>
              </a:rPr>
              <a:t>qBotica WindowBid  ·  Review · Procure · Fulfill</a:t>
            </a:r>
            <a:endParaRPr lang="en-US" sz="1000" dirty="0"/>
          </a:p>
        </p:txBody>
      </p:sp>
      <p:sp>
        <p:nvSpPr>
          <p:cNvPr id="3" name="Text 1"/>
          <p:cNvSpPr/>
          <p:nvPr/>
        </p:nvSpPr>
        <p:spPr>
          <a:xfrm>
            <a:off x="411480" y="6473952"/>
            <a:ext cx="6400800" cy="237744"/>
          </a:xfrm>
          <a:prstGeom prst="rect">
            <a:avLst/>
          </a:prstGeom>
          <a:noFill/>
          <a:ln/>
        </p:spPr>
        <p:txBody>
          <a:bodyPr wrap="square" lIns="0" tIns="0" rIns="0" bIns="0" rtlCol="0" anchor="t"/>
          <a:lstStyle/>
          <a:p>
            <a:pPr indent="0" marL="0">
              <a:buNone/>
            </a:pPr>
            <a:r>
              <a:rPr lang="en-US" sz="1000" dirty="0">
                <a:solidFill>
                  <a:schemeClr val="accent5"/>
                </a:solidFill>
                <a:latin typeface="Consolas" pitchFamily="34" charset="0"/>
                <a:ea typeface="Consolas" pitchFamily="34" charset="-122"/>
                <a:cs typeface="Consolas" pitchFamily="34" charset="-120"/>
              </a:rPr>
              <a:t>PROTOTYPE  ·  PROCURE AND FULFILL USE SAMPLE DATA</a:t>
            </a:r>
            <a:endParaRPr lang="en-US" sz="1000" dirty="0"/>
          </a:p>
        </p:txBody>
      </p:sp>
      <p:sp>
        <p:nvSpPr>
          <p:cNvPr id="4" name="Text 2"/>
          <p:cNvSpPr/>
          <p:nvPr/>
        </p:nvSpPr>
        <p:spPr>
          <a:xfrm>
            <a:off x="9037015" y="6473952"/>
            <a:ext cx="2743200" cy="237744"/>
          </a:xfrm>
          <a:prstGeom prst="rect">
            <a:avLst/>
          </a:prstGeom>
          <a:noFill/>
          <a:ln/>
        </p:spPr>
        <p:txBody>
          <a:bodyPr wrap="square" lIns="0" tIns="0" rIns="0" bIns="0" rtlCol="0" anchor="t"/>
          <a:lstStyle/>
          <a:p>
            <a:pPr algn="r" indent="0" marL="0">
              <a:buNone/>
            </a:pPr>
            <a:r>
              <a:rPr lang="en-US" sz="1000" dirty="0">
                <a:solidFill>
                  <a:schemeClr val="accent5"/>
                </a:solidFill>
                <a:latin typeface="Consolas" pitchFamily="34" charset="0"/>
                <a:ea typeface="Consolas" pitchFamily="34" charset="-122"/>
                <a:cs typeface="Consolas" pitchFamily="34" charset="-120"/>
              </a:rPr>
              <a:t>OCTOBER 2026</a:t>
            </a:r>
            <a:endParaRPr lang="en-US" sz="1000" dirty="0"/>
          </a:p>
        </p:txBody>
      </p:sp>
      <p:sp>
        <p:nvSpPr>
          <p:cNvPr id="5" name="Text 3"/>
          <p:cNvSpPr/>
          <p:nvPr>
            <p:ph idx="103" type="title" hasCustomPrompt="1"/>
          </p:nvPr>
        </p:nvSpPr>
        <p:spPr>
          <a:xfrm>
            <a:off x="868680" y="1572768"/>
            <a:ext cx="6583680" cy="2606040"/>
          </a:xfrm>
          <a:prstGeom prst="rect">
            <a:avLst/>
          </a:prstGeom>
          <a:noFill/>
          <a:ln/>
        </p:spPr>
        <p:txBody>
          <a:bodyPr wrap="square" rtlCol="0"/>
          <a:lstStyle>
            <a:lvl1pPr algn="l" indent="0" marL="0">
              <a:lnSpc>
                <a:spcPct val="88000"/>
              </a:lnSpc>
              <a:buNone/>
              <a:defRPr lang="en-US" sz="7200" b="1" dirty="0">
                <a:solidFill>
                  <a:schemeClr val="tx1"/>
                </a:solidFill>
                <a:latin typeface="Arial Narrow" pitchFamily="34" charset="0"/>
                <a:ea typeface="Arial Narrow" pitchFamily="34" charset="-122"/>
                <a:cs typeface="Arial Narrow" pitchFamily="34" charset="-120"/>
              </a:defRPr>
            </a:lvl1pPr>
          </a:lstStyle>
          <a:p>
            <a:pPr algn="l" indent="0" marL="0">
              <a:lnSpc>
                <a:spcPct val="88000"/>
              </a:lnSpc>
              <a:buNone/>
            </a:pPr>
            <a:endParaRPr lang="en-US" sz="7200" dirty="0"/>
          </a:p>
        </p:txBody>
      </p:sp>
      <p:sp>
        <p:nvSpPr>
          <p:cNvPr id="6" name="Text 3"/>
          <p:cNvSpPr/>
          <p:nvPr>
            <p:ph idx="104" type="body" hasCustomPrompt="1"/>
          </p:nvPr>
        </p:nvSpPr>
        <p:spPr>
          <a:xfrm>
            <a:off x="868680" y="4553712"/>
            <a:ext cx="5394960" cy="868680"/>
          </a:xfrm>
          <a:prstGeom prst="rect">
            <a:avLst/>
          </a:prstGeom>
          <a:noFill/>
          <a:ln/>
        </p:spPr>
        <p:txBody>
          <a:bodyPr wrap="square" rtlCol="0"/>
          <a:lstStyle>
            <a:lvl1pPr indent="0" marL="0">
              <a:buNone/>
              <a:defRPr lang="en-US" sz="1800" dirty="0">
                <a:solidFill>
                  <a:schemeClr val="tx2"/>
                </a:solidFill>
                <a:latin typeface="Arial" pitchFamily="34" charset="0"/>
                <a:ea typeface="Arial" pitchFamily="34" charset="-122"/>
                <a:cs typeface="Arial"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B Title Top">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11480" y="256032"/>
            <a:ext cx="5486400" cy="237744"/>
          </a:xfrm>
          <a:prstGeom prst="rect">
            <a:avLst/>
          </a:prstGeom>
          <a:noFill/>
          <a:ln/>
        </p:spPr>
        <p:txBody>
          <a:bodyPr wrap="square" lIns="0" tIns="0" rIns="0" bIns="0" rtlCol="0" anchor="b"/>
          <a:lstStyle/>
          <a:p>
            <a:pPr indent="0" marL="0">
              <a:buNone/>
            </a:pPr>
            <a:r>
              <a:rPr lang="en-US" sz="1000" dirty="0">
                <a:solidFill>
                  <a:schemeClr val="accent5"/>
                </a:solidFill>
                <a:latin typeface="Consolas" pitchFamily="34" charset="0"/>
                <a:ea typeface="Consolas" pitchFamily="34" charset="-122"/>
                <a:cs typeface="Consolas" pitchFamily="34" charset="-120"/>
              </a:rPr>
              <a:t>qBotica WindowBid  ·  Review · Procure · Fulfill</a:t>
            </a:r>
            <a:endParaRPr lang="en-US" sz="1000" dirty="0"/>
          </a:p>
        </p:txBody>
      </p:sp>
      <p:sp>
        <p:nvSpPr>
          <p:cNvPr id="3" name="Text 1"/>
          <p:cNvSpPr/>
          <p:nvPr/>
        </p:nvSpPr>
        <p:spPr>
          <a:xfrm>
            <a:off x="411480" y="6473952"/>
            <a:ext cx="6400800" cy="237744"/>
          </a:xfrm>
          <a:prstGeom prst="rect">
            <a:avLst/>
          </a:prstGeom>
          <a:noFill/>
          <a:ln/>
        </p:spPr>
        <p:txBody>
          <a:bodyPr wrap="square" lIns="0" tIns="0" rIns="0" bIns="0" rtlCol="0" anchor="t"/>
          <a:lstStyle/>
          <a:p>
            <a:pPr indent="0" marL="0">
              <a:buNone/>
            </a:pPr>
            <a:r>
              <a:rPr lang="en-US" sz="1000" dirty="0">
                <a:solidFill>
                  <a:schemeClr val="accent5"/>
                </a:solidFill>
                <a:latin typeface="Consolas" pitchFamily="34" charset="0"/>
                <a:ea typeface="Consolas" pitchFamily="34" charset="-122"/>
                <a:cs typeface="Consolas" pitchFamily="34" charset="-120"/>
              </a:rPr>
              <a:t>PROTOTYPE  ·  PROCURE AND FULFILL USE SAMPLE DATA</a:t>
            </a:r>
            <a:endParaRPr lang="en-US" sz="1000" dirty="0"/>
          </a:p>
        </p:txBody>
      </p:sp>
      <p:sp>
        <p:nvSpPr>
          <p:cNvPr id="4" name="Text 2"/>
          <p:cNvSpPr/>
          <p:nvPr/>
        </p:nvSpPr>
        <p:spPr>
          <a:xfrm>
            <a:off x="9037015" y="6473952"/>
            <a:ext cx="2743200" cy="237744"/>
          </a:xfrm>
          <a:prstGeom prst="rect">
            <a:avLst/>
          </a:prstGeom>
          <a:noFill/>
          <a:ln/>
        </p:spPr>
        <p:txBody>
          <a:bodyPr wrap="square" lIns="0" tIns="0" rIns="0" bIns="0" rtlCol="0" anchor="t"/>
          <a:lstStyle/>
          <a:p>
            <a:pPr algn="r" indent="0" marL="0">
              <a:buNone/>
            </a:pPr>
            <a:r>
              <a:rPr lang="en-US" sz="1000" dirty="0">
                <a:solidFill>
                  <a:schemeClr val="accent5"/>
                </a:solidFill>
                <a:latin typeface="Consolas" pitchFamily="34" charset="0"/>
                <a:ea typeface="Consolas" pitchFamily="34" charset="-122"/>
                <a:cs typeface="Consolas" pitchFamily="34" charset="-120"/>
              </a:rPr>
              <a:t>OCTOBER 2026</a:t>
            </a:r>
            <a:endParaRPr lang="en-US" sz="1000" dirty="0"/>
          </a:p>
        </p:txBody>
      </p:sp>
      <p:sp>
        <p:nvSpPr>
          <p:cNvPr id="5" name="Text 3"/>
          <p:cNvSpPr/>
          <p:nvPr>
            <p:ph idx="103" type="title" hasCustomPrompt="1"/>
          </p:nvPr>
        </p:nvSpPr>
        <p:spPr>
          <a:xfrm>
            <a:off x="868680" y="1188720"/>
            <a:ext cx="10424160" cy="731520"/>
          </a:xfrm>
          <a:prstGeom prst="rect">
            <a:avLst/>
          </a:prstGeom>
          <a:noFill/>
          <a:ln/>
        </p:spPr>
        <p:txBody>
          <a:bodyPr wrap="square" rtlCol="0"/>
          <a:lstStyle>
            <a:lvl1pPr algn="l" indent="0" marL="0">
              <a:lnSpc>
                <a:spcPct val="88000"/>
              </a:lnSpc>
              <a:buNone/>
              <a:defRPr lang="en-US" sz="4000" b="1" dirty="0">
                <a:solidFill>
                  <a:schemeClr val="tx1"/>
                </a:solidFill>
                <a:latin typeface="Arial Narrow" pitchFamily="34" charset="0"/>
                <a:ea typeface="Arial Narrow" pitchFamily="34" charset="-122"/>
                <a:cs typeface="Arial Narrow" pitchFamily="34" charset="-120"/>
              </a:defRPr>
            </a:lvl1pPr>
          </a:lstStyle>
          <a:p>
            <a:pPr algn="l" indent="0" marL="0">
              <a:lnSpc>
                <a:spcPct val="88000"/>
              </a:lnSpc>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B Side Lef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11480" y="256032"/>
            <a:ext cx="5486400" cy="237744"/>
          </a:xfrm>
          <a:prstGeom prst="rect">
            <a:avLst/>
          </a:prstGeom>
          <a:noFill/>
          <a:ln/>
        </p:spPr>
        <p:txBody>
          <a:bodyPr wrap="square" lIns="0" tIns="0" rIns="0" bIns="0" rtlCol="0" anchor="b"/>
          <a:lstStyle/>
          <a:p>
            <a:pPr indent="0" marL="0">
              <a:buNone/>
            </a:pPr>
            <a:r>
              <a:rPr lang="en-US" sz="1000" dirty="0">
                <a:solidFill>
                  <a:schemeClr val="accent5"/>
                </a:solidFill>
                <a:latin typeface="Consolas" pitchFamily="34" charset="0"/>
                <a:ea typeface="Consolas" pitchFamily="34" charset="-122"/>
                <a:cs typeface="Consolas" pitchFamily="34" charset="-120"/>
              </a:rPr>
              <a:t>qBotica WindowBid  ·  Review · Procure · Fulfill</a:t>
            </a:r>
            <a:endParaRPr lang="en-US" sz="1000" dirty="0"/>
          </a:p>
        </p:txBody>
      </p:sp>
      <p:sp>
        <p:nvSpPr>
          <p:cNvPr id="3" name="Text 1"/>
          <p:cNvSpPr/>
          <p:nvPr/>
        </p:nvSpPr>
        <p:spPr>
          <a:xfrm>
            <a:off x="411480" y="6473952"/>
            <a:ext cx="6400800" cy="237744"/>
          </a:xfrm>
          <a:prstGeom prst="rect">
            <a:avLst/>
          </a:prstGeom>
          <a:noFill/>
          <a:ln/>
        </p:spPr>
        <p:txBody>
          <a:bodyPr wrap="square" lIns="0" tIns="0" rIns="0" bIns="0" rtlCol="0" anchor="t"/>
          <a:lstStyle/>
          <a:p>
            <a:pPr indent="0" marL="0">
              <a:buNone/>
            </a:pPr>
            <a:r>
              <a:rPr lang="en-US" sz="1000" dirty="0">
                <a:solidFill>
                  <a:schemeClr val="accent5"/>
                </a:solidFill>
                <a:latin typeface="Consolas" pitchFamily="34" charset="0"/>
                <a:ea typeface="Consolas" pitchFamily="34" charset="-122"/>
                <a:cs typeface="Consolas" pitchFamily="34" charset="-120"/>
              </a:rPr>
              <a:t>PROTOTYPE  ·  PROCURE AND FULFILL USE SAMPLE DATA</a:t>
            </a:r>
            <a:endParaRPr lang="en-US" sz="1000" dirty="0"/>
          </a:p>
        </p:txBody>
      </p:sp>
      <p:sp>
        <p:nvSpPr>
          <p:cNvPr id="4" name="Text 2"/>
          <p:cNvSpPr/>
          <p:nvPr/>
        </p:nvSpPr>
        <p:spPr>
          <a:xfrm>
            <a:off x="9037015" y="6473952"/>
            <a:ext cx="2743200" cy="237744"/>
          </a:xfrm>
          <a:prstGeom prst="rect">
            <a:avLst/>
          </a:prstGeom>
          <a:noFill/>
          <a:ln/>
        </p:spPr>
        <p:txBody>
          <a:bodyPr wrap="square" lIns="0" tIns="0" rIns="0" bIns="0" rtlCol="0" anchor="t"/>
          <a:lstStyle/>
          <a:p>
            <a:pPr algn="r" indent="0" marL="0">
              <a:buNone/>
            </a:pPr>
            <a:r>
              <a:rPr lang="en-US" sz="1000" dirty="0">
                <a:solidFill>
                  <a:schemeClr val="accent5"/>
                </a:solidFill>
                <a:latin typeface="Consolas" pitchFamily="34" charset="0"/>
                <a:ea typeface="Consolas" pitchFamily="34" charset="-122"/>
                <a:cs typeface="Consolas" pitchFamily="34" charset="-120"/>
              </a:rPr>
              <a:t>OCTOBER 2026</a:t>
            </a:r>
            <a:endParaRPr lang="en-US" sz="1000" dirty="0"/>
          </a:p>
        </p:txBody>
      </p:sp>
      <p:sp>
        <p:nvSpPr>
          <p:cNvPr id="5" name="Text 3"/>
          <p:cNvSpPr/>
          <p:nvPr>
            <p:ph idx="103" type="title" hasCustomPrompt="1"/>
          </p:nvPr>
        </p:nvSpPr>
        <p:spPr>
          <a:xfrm>
            <a:off x="868680" y="1188720"/>
            <a:ext cx="3429000" cy="1371600"/>
          </a:xfrm>
          <a:prstGeom prst="rect">
            <a:avLst/>
          </a:prstGeom>
          <a:noFill/>
          <a:ln/>
        </p:spPr>
        <p:txBody>
          <a:bodyPr wrap="square" rtlCol="0"/>
          <a:lstStyle>
            <a:lvl1pPr algn="l" indent="0" marL="0">
              <a:lnSpc>
                <a:spcPct val="88000"/>
              </a:lnSpc>
              <a:buNone/>
              <a:defRPr lang="en-US" sz="3400" b="1" dirty="0">
                <a:solidFill>
                  <a:schemeClr val="tx1"/>
                </a:solidFill>
                <a:latin typeface="Arial Narrow" pitchFamily="34" charset="0"/>
                <a:ea typeface="Arial Narrow" pitchFamily="34" charset="-122"/>
                <a:cs typeface="Arial Narrow" pitchFamily="34" charset="-120"/>
              </a:defRPr>
            </a:lvl1pPr>
          </a:lstStyle>
          <a:p>
            <a:pPr algn="l" indent="0" marL="0">
              <a:lnSpc>
                <a:spcPct val="88000"/>
              </a:lnSpc>
              <a:buNone/>
            </a:pPr>
            <a:endParaRPr lang="en-US" sz="3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B Side R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11480" y="256032"/>
            <a:ext cx="5486400" cy="237744"/>
          </a:xfrm>
          <a:prstGeom prst="rect">
            <a:avLst/>
          </a:prstGeom>
          <a:noFill/>
          <a:ln/>
        </p:spPr>
        <p:txBody>
          <a:bodyPr wrap="square" lIns="0" tIns="0" rIns="0" bIns="0" rtlCol="0" anchor="b"/>
          <a:lstStyle/>
          <a:p>
            <a:pPr indent="0" marL="0">
              <a:buNone/>
            </a:pPr>
            <a:r>
              <a:rPr lang="en-US" sz="1000" dirty="0">
                <a:solidFill>
                  <a:schemeClr val="accent5"/>
                </a:solidFill>
                <a:latin typeface="Consolas" pitchFamily="34" charset="0"/>
                <a:ea typeface="Consolas" pitchFamily="34" charset="-122"/>
                <a:cs typeface="Consolas" pitchFamily="34" charset="-120"/>
              </a:rPr>
              <a:t>qBotica WindowBid  ·  Review · Procure · Fulfill</a:t>
            </a:r>
            <a:endParaRPr lang="en-US" sz="1000" dirty="0"/>
          </a:p>
        </p:txBody>
      </p:sp>
      <p:sp>
        <p:nvSpPr>
          <p:cNvPr id="3" name="Text 1"/>
          <p:cNvSpPr/>
          <p:nvPr/>
        </p:nvSpPr>
        <p:spPr>
          <a:xfrm>
            <a:off x="411480" y="6473952"/>
            <a:ext cx="6400800" cy="237744"/>
          </a:xfrm>
          <a:prstGeom prst="rect">
            <a:avLst/>
          </a:prstGeom>
          <a:noFill/>
          <a:ln/>
        </p:spPr>
        <p:txBody>
          <a:bodyPr wrap="square" lIns="0" tIns="0" rIns="0" bIns="0" rtlCol="0" anchor="t"/>
          <a:lstStyle/>
          <a:p>
            <a:pPr indent="0" marL="0">
              <a:buNone/>
            </a:pPr>
            <a:r>
              <a:rPr lang="en-US" sz="1000" dirty="0">
                <a:solidFill>
                  <a:schemeClr val="accent5"/>
                </a:solidFill>
                <a:latin typeface="Consolas" pitchFamily="34" charset="0"/>
                <a:ea typeface="Consolas" pitchFamily="34" charset="-122"/>
                <a:cs typeface="Consolas" pitchFamily="34" charset="-120"/>
              </a:rPr>
              <a:t>PROTOTYPE  ·  PROCURE AND FULFILL USE SAMPLE DATA</a:t>
            </a:r>
            <a:endParaRPr lang="en-US" sz="1000" dirty="0"/>
          </a:p>
        </p:txBody>
      </p:sp>
      <p:sp>
        <p:nvSpPr>
          <p:cNvPr id="4" name="Text 2"/>
          <p:cNvSpPr/>
          <p:nvPr/>
        </p:nvSpPr>
        <p:spPr>
          <a:xfrm>
            <a:off x="9037015" y="6473952"/>
            <a:ext cx="2743200" cy="237744"/>
          </a:xfrm>
          <a:prstGeom prst="rect">
            <a:avLst/>
          </a:prstGeom>
          <a:noFill/>
          <a:ln/>
        </p:spPr>
        <p:txBody>
          <a:bodyPr wrap="square" lIns="0" tIns="0" rIns="0" bIns="0" rtlCol="0" anchor="t"/>
          <a:lstStyle/>
          <a:p>
            <a:pPr algn="r" indent="0" marL="0">
              <a:buNone/>
            </a:pPr>
            <a:r>
              <a:rPr lang="en-US" sz="1000" dirty="0">
                <a:solidFill>
                  <a:schemeClr val="accent5"/>
                </a:solidFill>
                <a:latin typeface="Consolas" pitchFamily="34" charset="0"/>
                <a:ea typeface="Consolas" pitchFamily="34" charset="-122"/>
                <a:cs typeface="Consolas" pitchFamily="34" charset="-120"/>
              </a:rPr>
              <a:t>OCTOBER 2026</a:t>
            </a:r>
            <a:endParaRPr lang="en-US" sz="1000" dirty="0"/>
          </a:p>
        </p:txBody>
      </p:sp>
      <p:sp>
        <p:nvSpPr>
          <p:cNvPr id="5" name="Text 3"/>
          <p:cNvSpPr/>
          <p:nvPr>
            <p:ph idx="103" type="title" hasCustomPrompt="1"/>
          </p:nvPr>
        </p:nvSpPr>
        <p:spPr>
          <a:xfrm>
            <a:off x="7863840" y="1188720"/>
            <a:ext cx="3429000" cy="1371600"/>
          </a:xfrm>
          <a:prstGeom prst="rect">
            <a:avLst/>
          </a:prstGeom>
          <a:noFill/>
          <a:ln/>
        </p:spPr>
        <p:txBody>
          <a:bodyPr wrap="square" rtlCol="0"/>
          <a:lstStyle>
            <a:lvl1pPr algn="l" indent="0" marL="0">
              <a:lnSpc>
                <a:spcPct val="88000"/>
              </a:lnSpc>
              <a:buNone/>
              <a:defRPr lang="en-US" sz="3400" b="1" dirty="0">
                <a:solidFill>
                  <a:schemeClr val="tx1"/>
                </a:solidFill>
                <a:latin typeface="Arial Narrow" pitchFamily="34" charset="0"/>
                <a:ea typeface="Arial Narrow" pitchFamily="34" charset="-122"/>
                <a:cs typeface="Arial Narrow" pitchFamily="34" charset="-120"/>
              </a:defRPr>
            </a:lvl1pPr>
          </a:lstStyle>
          <a:p>
            <a:pPr algn="l" indent="0" marL="0">
              <a:lnSpc>
                <a:spcPct val="88000"/>
              </a:lnSpc>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ursor"/>
          <p:cNvSpPr/>
          <p:nvPr/>
        </p:nvSpPr>
        <p:spPr>
          <a:xfrm rot="5400000">
            <a:off x="182880" y="910481"/>
            <a:ext cx="164592" cy="146304"/>
          </a:xfrm>
          <a:prstGeom prst="triangle">
            <a:avLst/>
          </a:prstGeom>
          <a:solidFill>
            <a:schemeClr val="accent1"/>
          </a:solidFill>
          <a:ln/>
        </p:spPr>
      </p:sp>
      <p:sp>
        <p:nvSpPr>
          <p:cNvPr id="3" name="!!cursorTick"/>
          <p:cNvSpPr/>
          <p:nvPr/>
        </p:nvSpPr>
        <p:spPr>
          <a:xfrm>
            <a:off x="411480" y="983633"/>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01 / 07</a:t>
            </a:r>
            <a:endParaRPr lang="en-US" sz="1000" dirty="0"/>
          </a:p>
        </p:txBody>
      </p:sp>
      <p:sp>
        <p:nvSpPr>
          <p:cNvPr id="5" name="s1_eyebrow"/>
          <p:cNvSpPr txBox="1"/>
          <p:nvPr/>
        </p:nvSpPr>
        <p:spPr>
          <a:xfrm>
            <a:off x="868680" y="1261872"/>
            <a:ext cx="54864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SMART TAKEOFF FOR WINDOW DEALERS</a:t>
            </a:r>
            <a:endParaRPr lang="en-US" sz="1050" dirty="0"/>
          </a:p>
        </p:txBody>
      </p:sp>
      <p:sp>
        <p:nvSpPr>
          <p:cNvPr id="6" name="!!title"/>
          <p:cNvSpPr/>
          <p:nvPr>
            <p:ph idx="103" type="title" hasCustomPrompt="1"/>
          </p:nvPr>
        </p:nvSpPr>
        <p:spPr>
          <a:xfrm>
            <a:off x="868680" y="1572768"/>
            <a:ext cx="6583680" cy="2606040"/>
          </a:xfrm>
          <a:prstGeom prst="rect">
            <a:avLst/>
          </a:prstGeom>
          <a:noFill/>
          <a:ln/>
        </p:spPr>
        <p:txBody>
          <a:bodyPr wrap="square" lIns="0" tIns="0" rIns="0" bIns="0" rtlCol="0" anchor="t"/>
          <a:lstStyle/>
          <a:p>
            <a:pPr algn="l" indent="0" marL="0">
              <a:lnSpc>
                <a:spcPct val="88000"/>
              </a:lnSpc>
              <a:buNone/>
            </a:pPr>
            <a:r>
              <a:rPr lang="en-US" sz="7200" b="1" dirty="0">
                <a:solidFill>
                  <a:schemeClr val="tx1"/>
                </a:solidFill>
                <a:latin typeface="Arial Narrow" pitchFamily="34" charset="0"/>
                <a:ea typeface="Arial Narrow" pitchFamily="34" charset="-122"/>
                <a:cs typeface="Arial Narrow" pitchFamily="34" charset="-120"/>
              </a:rPr>
              <a:t>REVIEW.</a:t>
            </a:r>
            <a:endParaRPr lang="en-US" sz="7200" dirty="0"/>
          </a:p>
          <a:p>
            <a:pPr algn="l" indent="0" marL="0">
              <a:lnSpc>
                <a:spcPct val="88000"/>
              </a:lnSpc>
              <a:buNone/>
            </a:pPr>
            <a:r>
              <a:rPr lang="en-US" sz="7200" b="1" dirty="0">
                <a:solidFill>
                  <a:schemeClr val="tx1"/>
                </a:solidFill>
                <a:latin typeface="Arial Narrow" pitchFamily="34" charset="0"/>
                <a:ea typeface="Arial Narrow" pitchFamily="34" charset="-122"/>
                <a:cs typeface="Arial Narrow" pitchFamily="34" charset="-120"/>
              </a:rPr>
              <a:t>PROCURE.</a:t>
            </a:r>
            <a:endParaRPr lang="en-US" sz="7200" dirty="0"/>
          </a:p>
          <a:p>
            <a:pPr algn="l" indent="0" marL="0">
              <a:lnSpc>
                <a:spcPct val="88000"/>
              </a:lnSpc>
              <a:buNone/>
            </a:pPr>
            <a:r>
              <a:rPr lang="en-US" sz="7200" b="1" dirty="0">
                <a:solidFill>
                  <a:schemeClr val="tx1"/>
                </a:solidFill>
                <a:latin typeface="Arial Narrow" pitchFamily="34" charset="0"/>
                <a:ea typeface="Arial Narrow" pitchFamily="34" charset="-122"/>
                <a:cs typeface="Arial Narrow" pitchFamily="34" charset="-120"/>
              </a:rPr>
              <a:t>FULFILL.</a:t>
            </a:r>
            <a:endParaRPr lang="en-US" sz="7200" dirty="0"/>
          </a:p>
        </p:txBody>
      </p:sp>
      <p:sp>
        <p:nvSpPr>
          <p:cNvPr id="7" name="s1_body"/>
          <p:cNvSpPr/>
          <p:nvPr>
            <p:ph idx="104" type="body" hasCustomPrompt="1"/>
          </p:nvPr>
        </p:nvSpPr>
        <p:spPr>
          <a:xfrm>
            <a:off x="868680" y="4553712"/>
            <a:ext cx="5394960" cy="868680"/>
          </a:xfrm>
          <a:prstGeom prst="rect">
            <a:avLst/>
          </a:prstGeom>
          <a:noFill/>
          <a:ln/>
        </p:spPr>
        <p:txBody>
          <a:bodyPr wrap="square" lIns="0" tIns="0" rIns="0" bIns="0" rtlCol="0" anchor="t"/>
          <a:lstStyle/>
          <a:p>
            <a:pPr indent="0" marL="0">
              <a:buNone/>
            </a:pPr>
            <a:r>
              <a:rPr lang="en-US" sz="1800" dirty="0">
                <a:solidFill>
                  <a:schemeClr val="tx2"/>
                </a:solidFill>
                <a:latin typeface="Arial" pitchFamily="34" charset="0"/>
                <a:ea typeface="Arial" pitchFamily="34" charset="-122"/>
                <a:cs typeface="Arial" pitchFamily="34" charset="-120"/>
              </a:rPr>
              <a:t>From an architectural drawing set to installed windows, as one continuous, checkable record.</a:t>
            </a:r>
            <a:endParaRPr lang="en-US" sz="1800" dirty="0"/>
          </a:p>
        </p:txBody>
      </p:sp>
      <p:sp>
        <p:nvSpPr>
          <p:cNvPr id="8" name="s1_meta"/>
          <p:cNvSpPr txBox="1"/>
          <p:nvPr/>
        </p:nvSpPr>
        <p:spPr>
          <a:xfrm>
            <a:off x="868680" y="5669280"/>
            <a:ext cx="5486400" cy="256032"/>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TESTED ON A REAL 31-PAGE DRAWING SET  ·  DEMO v18</a:t>
            </a:r>
            <a:endParaRPr lang="en-US" sz="1000" dirty="0"/>
          </a:p>
        </p:txBody>
      </p:sp>
      <p:grpSp>
        <p:nvGrpSpPr>
          <p:cNvPr id="37" name="s1_win"/>
          <p:cNvGrpSpPr/>
          <p:nvPr/>
        </p:nvGrpSpPr>
        <p:grpSpPr>
          <a:xfrm>
            <a:off x="8805672" y="969264"/>
            <a:ext cx="2301545" cy="4352544"/>
            <a:chOff x="8805672" y="969264"/>
            <a:chExt cx="2301545" cy="4352544"/>
          </a:xfrm>
        </p:grpSpPr>
        <p:sp>
          <p:nvSpPr>
            <p:cNvPr id="9" name="frame"/>
            <p:cNvSpPr/>
            <p:nvPr/>
          </p:nvSpPr>
          <p:spPr>
            <a:xfrm>
              <a:off x="8915400" y="1600200"/>
              <a:ext cx="1524305" cy="3657600"/>
            </a:xfrm>
            <a:prstGeom prst="rect">
              <a:avLst/>
            </a:prstGeom>
            <a:ln w="22225">
              <a:solidFill>
                <a:schemeClr val="tx1"/>
              </a:solidFill>
              <a:prstDash val="solid"/>
            </a:ln>
          </p:spPr>
        </p:sp>
        <p:sp>
          <p:nvSpPr>
            <p:cNvPr id="10" name="sash"/>
            <p:cNvSpPr/>
            <p:nvPr/>
          </p:nvSpPr>
          <p:spPr>
            <a:xfrm>
              <a:off x="9025128" y="1709928"/>
              <a:ext cx="1304849" cy="3438144"/>
            </a:xfrm>
            <a:prstGeom prst="rect">
              <a:avLst/>
            </a:prstGeom>
            <a:ln w="12700">
              <a:solidFill>
                <a:schemeClr val="tx2"/>
              </a:solidFill>
              <a:prstDash val="solid"/>
            </a:ln>
          </p:spPr>
        </p:sp>
        <p:sp>
          <p:nvSpPr>
            <p:cNvPr id="11" name="swing1"/>
            <p:cNvSpPr/>
            <p:nvPr/>
          </p:nvSpPr>
          <p:spPr>
            <a:xfrm flipV="1">
              <a:off x="9025128" y="1709928"/>
              <a:ext cx="1304849" cy="1719072"/>
            </a:xfrm>
            <a:prstGeom prst="line">
              <a:avLst/>
            </a:prstGeom>
            <a:noFill/>
            <a:ln w="12700">
              <a:solidFill>
                <a:schemeClr val="accent5"/>
              </a:solidFill>
              <a:prstDash val="dash"/>
            </a:ln>
          </p:spPr>
        </p:sp>
        <p:sp>
          <p:nvSpPr>
            <p:cNvPr id="12" name="swing2"/>
            <p:cNvSpPr/>
            <p:nvPr/>
          </p:nvSpPr>
          <p:spPr>
            <a:xfrm>
              <a:off x="9025128" y="3429000"/>
              <a:ext cx="1304849" cy="1719072"/>
            </a:xfrm>
            <a:prstGeom prst="line">
              <a:avLst/>
            </a:prstGeom>
            <a:noFill/>
            <a:ln w="12700">
              <a:solidFill>
                <a:schemeClr val="accent5"/>
              </a:solidFill>
              <a:prstDash val="dash"/>
            </a:ln>
          </p:spPr>
        </p:sp>
        <p:sp>
          <p:nvSpPr>
            <p:cNvPr id="13" name="sill"/>
            <p:cNvSpPr/>
            <p:nvPr/>
          </p:nvSpPr>
          <p:spPr>
            <a:xfrm>
              <a:off x="8805672" y="5321808"/>
              <a:ext cx="1743761" cy="0"/>
            </a:xfrm>
            <a:prstGeom prst="line">
              <a:avLst/>
            </a:prstGeom>
            <a:noFill/>
            <a:ln w="15875">
              <a:solidFill>
                <a:schemeClr val="tx2"/>
              </a:solidFill>
              <a:prstDash val="solid"/>
            </a:ln>
          </p:spPr>
        </p:sp>
        <p:sp>
          <p:nvSpPr>
            <p:cNvPr id="14" name="ext1"/>
            <p:cNvSpPr/>
            <p:nvPr/>
          </p:nvSpPr>
          <p:spPr>
            <a:xfrm>
              <a:off x="8915400" y="1207008"/>
              <a:ext cx="0" cy="338328"/>
            </a:xfrm>
            <a:prstGeom prst="line">
              <a:avLst/>
            </a:prstGeom>
            <a:noFill/>
            <a:ln w="6350">
              <a:solidFill>
                <a:schemeClr val="accent5"/>
              </a:solidFill>
              <a:prstDash val="solid"/>
            </a:ln>
          </p:spPr>
        </p:sp>
        <p:sp>
          <p:nvSpPr>
            <p:cNvPr id="15" name="ext2"/>
            <p:cNvSpPr/>
            <p:nvPr/>
          </p:nvSpPr>
          <p:spPr>
            <a:xfrm>
              <a:off x="10439705" y="1207008"/>
              <a:ext cx="0" cy="338328"/>
            </a:xfrm>
            <a:prstGeom prst="line">
              <a:avLst/>
            </a:prstGeom>
            <a:noFill/>
            <a:ln w="6350">
              <a:solidFill>
                <a:schemeClr val="accent5"/>
              </a:solidFill>
              <a:prstDash val="solid"/>
            </a:ln>
          </p:spPr>
        </p:sp>
        <p:sp>
          <p:nvSpPr>
            <p:cNvPr id="16" name="dimw"/>
            <p:cNvSpPr/>
            <p:nvPr/>
          </p:nvSpPr>
          <p:spPr>
            <a:xfrm>
              <a:off x="8915400" y="1280160"/>
              <a:ext cx="1524305" cy="0"/>
            </a:xfrm>
            <a:prstGeom prst="line">
              <a:avLst/>
            </a:prstGeom>
            <a:noFill/>
            <a:ln w="9525">
              <a:solidFill>
                <a:schemeClr val="accent5"/>
              </a:solidFill>
              <a:prstDash val="solid"/>
            </a:ln>
          </p:spPr>
        </p:sp>
        <p:sp>
          <p:nvSpPr>
            <p:cNvPr id="17" name="tw1"/>
            <p:cNvSpPr/>
            <p:nvPr/>
          </p:nvSpPr>
          <p:spPr>
            <a:xfrm flipV="1">
              <a:off x="8869680" y="1234440"/>
              <a:ext cx="91440" cy="91440"/>
            </a:xfrm>
            <a:prstGeom prst="line">
              <a:avLst/>
            </a:prstGeom>
            <a:noFill/>
            <a:ln w="12700">
              <a:solidFill>
                <a:schemeClr val="tx2"/>
              </a:solidFill>
              <a:prstDash val="solid"/>
            </a:ln>
          </p:spPr>
        </p:sp>
        <p:sp>
          <p:nvSpPr>
            <p:cNvPr id="18" name="tw2"/>
            <p:cNvSpPr/>
            <p:nvPr/>
          </p:nvSpPr>
          <p:spPr>
            <a:xfrm flipV="1">
              <a:off x="10393985" y="1234440"/>
              <a:ext cx="91440" cy="91440"/>
            </a:xfrm>
            <a:prstGeom prst="line">
              <a:avLst/>
            </a:prstGeom>
            <a:noFill/>
            <a:ln w="12700">
              <a:solidFill>
                <a:schemeClr val="tx2"/>
              </a:solidFill>
              <a:prstDash val="solid"/>
            </a:ln>
          </p:spPr>
        </p:sp>
        <p:sp>
          <p:nvSpPr>
            <p:cNvPr id="19" name="wlabel"/>
            <p:cNvSpPr txBox="1"/>
            <p:nvPr/>
          </p:nvSpPr>
          <p:spPr>
            <a:xfrm>
              <a:off x="8915400" y="969264"/>
              <a:ext cx="1524305" cy="237744"/>
            </a:xfrm>
            <a:prstGeom prst="rect">
              <a:avLst/>
            </a:prstGeom>
            <a:noFill/>
            <a:ln/>
          </p:spPr>
          <p:txBody>
            <a:bodyPr wrap="square" lIns="0" tIns="0" rIns="0" bIns="0" rtlCol="0" anchor="ctr"/>
            <a:lstStyle/>
            <a:p>
              <a:pPr algn="ctr" indent="0" marL="0">
                <a:buNone/>
              </a:pPr>
              <a:r>
                <a:rPr lang="en-US" sz="1000" dirty="0">
                  <a:solidFill>
                    <a:schemeClr val="tx2"/>
                  </a:solidFill>
                  <a:latin typeface="Consolas" pitchFamily="34" charset="0"/>
                  <a:ea typeface="Consolas" pitchFamily="34" charset="-122"/>
                  <a:cs typeface="Consolas" pitchFamily="34" charset="-120"/>
                </a:rPr>
                <a:t>2'-6"</a:t>
              </a:r>
              <a:endParaRPr lang="en-US" sz="1000" dirty="0"/>
            </a:p>
          </p:txBody>
        </p:sp>
        <p:sp>
          <p:nvSpPr>
            <p:cNvPr id="20" name="ext3"/>
            <p:cNvSpPr/>
            <p:nvPr/>
          </p:nvSpPr>
          <p:spPr>
            <a:xfrm>
              <a:off x="10494569" y="1600200"/>
              <a:ext cx="365760" cy="0"/>
            </a:xfrm>
            <a:prstGeom prst="line">
              <a:avLst/>
            </a:prstGeom>
            <a:noFill/>
            <a:ln w="6350">
              <a:solidFill>
                <a:schemeClr val="accent5"/>
              </a:solidFill>
              <a:prstDash val="solid"/>
            </a:ln>
          </p:spPr>
        </p:sp>
        <p:sp>
          <p:nvSpPr>
            <p:cNvPr id="21" name="ext4"/>
            <p:cNvSpPr/>
            <p:nvPr/>
          </p:nvSpPr>
          <p:spPr>
            <a:xfrm>
              <a:off x="10494569" y="5257800"/>
              <a:ext cx="365760" cy="0"/>
            </a:xfrm>
            <a:prstGeom prst="line">
              <a:avLst/>
            </a:prstGeom>
            <a:noFill/>
            <a:ln w="6350">
              <a:solidFill>
                <a:schemeClr val="accent5"/>
              </a:solidFill>
              <a:prstDash val="solid"/>
            </a:ln>
          </p:spPr>
        </p:sp>
        <p:sp>
          <p:nvSpPr>
            <p:cNvPr id="22" name="dimh"/>
            <p:cNvSpPr/>
            <p:nvPr/>
          </p:nvSpPr>
          <p:spPr>
            <a:xfrm>
              <a:off x="10787177" y="1600200"/>
              <a:ext cx="0" cy="3657600"/>
            </a:xfrm>
            <a:prstGeom prst="line">
              <a:avLst/>
            </a:prstGeom>
            <a:noFill/>
            <a:ln w="9525">
              <a:solidFill>
                <a:schemeClr val="accent5"/>
              </a:solidFill>
              <a:prstDash val="solid"/>
            </a:ln>
          </p:spPr>
        </p:sp>
        <p:sp>
          <p:nvSpPr>
            <p:cNvPr id="23" name="th1"/>
            <p:cNvSpPr/>
            <p:nvPr/>
          </p:nvSpPr>
          <p:spPr>
            <a:xfrm flipV="1">
              <a:off x="10741457" y="1554480"/>
              <a:ext cx="91440" cy="91440"/>
            </a:xfrm>
            <a:prstGeom prst="line">
              <a:avLst/>
            </a:prstGeom>
            <a:noFill/>
            <a:ln w="12700">
              <a:solidFill>
                <a:schemeClr val="tx2"/>
              </a:solidFill>
              <a:prstDash val="solid"/>
            </a:ln>
          </p:spPr>
        </p:sp>
        <p:sp>
          <p:nvSpPr>
            <p:cNvPr id="24" name="th2"/>
            <p:cNvSpPr/>
            <p:nvPr/>
          </p:nvSpPr>
          <p:spPr>
            <a:xfrm flipV="1">
              <a:off x="10741457" y="5212080"/>
              <a:ext cx="91440" cy="91440"/>
            </a:xfrm>
            <a:prstGeom prst="line">
              <a:avLst/>
            </a:prstGeom>
            <a:noFill/>
            <a:ln w="12700">
              <a:solidFill>
                <a:schemeClr val="tx2"/>
              </a:solidFill>
              <a:prstDash val="solid"/>
            </a:ln>
          </p:spPr>
        </p:sp>
        <p:sp>
          <p:nvSpPr>
            <p:cNvPr id="25" name="hlabel"/>
            <p:cNvSpPr txBox="1"/>
            <p:nvPr/>
          </p:nvSpPr>
          <p:spPr>
            <a:xfrm rot="16200000">
              <a:off x="10576865" y="3310128"/>
              <a:ext cx="822960" cy="237744"/>
            </a:xfrm>
            <a:prstGeom prst="rect">
              <a:avLst/>
            </a:prstGeom>
            <a:noFill/>
            <a:ln/>
          </p:spPr>
          <p:txBody>
            <a:bodyPr wrap="square" lIns="0" tIns="0" rIns="0" bIns="0" rtlCol="0" anchor="ctr"/>
            <a:lstStyle/>
            <a:p>
              <a:pPr algn="ctr" indent="0" marL="0">
                <a:buNone/>
              </a:pPr>
              <a:r>
                <a:rPr lang="en-US" sz="1000" dirty="0">
                  <a:solidFill>
                    <a:schemeClr val="tx2"/>
                  </a:solidFill>
                  <a:latin typeface="Consolas" pitchFamily="34" charset="0"/>
                  <a:ea typeface="Consolas" pitchFamily="34" charset="-122"/>
                  <a:cs typeface="Consolas" pitchFamily="34" charset="-120"/>
                </a:rPr>
                <a:t>6'-0"</a:t>
              </a:r>
              <a:endParaRPr lang="en-US" sz="1000" dirty="0"/>
            </a:p>
          </p:txBody>
        </p:sp>
      </p:grpSp>
      <p:grpSp>
        <p:nvGrpSpPr>
          <p:cNvPr id="38" name="s1_det"/>
          <p:cNvGrpSpPr/>
          <p:nvPr/>
        </p:nvGrpSpPr>
        <p:grpSpPr>
          <a:xfrm>
            <a:off x="8759952" y="1444752"/>
            <a:ext cx="1835201" cy="3995928"/>
            <a:chOff x="8759952" y="1444752"/>
            <a:chExt cx="1835201" cy="3995928"/>
          </a:xfrm>
        </p:grpSpPr>
        <p:sp>
          <p:nvSpPr>
            <p:cNvPr id="26" name="1"/>
            <p:cNvSpPr/>
            <p:nvPr/>
          </p:nvSpPr>
          <p:spPr>
            <a:xfrm>
              <a:off x="8759952" y="1444752"/>
              <a:ext cx="237744" cy="0"/>
            </a:xfrm>
            <a:prstGeom prst="line">
              <a:avLst/>
            </a:prstGeom>
            <a:noFill/>
            <a:ln w="25400">
              <a:solidFill>
                <a:schemeClr val="accent1"/>
              </a:solidFill>
              <a:prstDash val="solid"/>
            </a:ln>
          </p:spPr>
        </p:sp>
        <p:sp>
          <p:nvSpPr>
            <p:cNvPr id="27" name="2"/>
            <p:cNvSpPr/>
            <p:nvPr/>
          </p:nvSpPr>
          <p:spPr>
            <a:xfrm>
              <a:off x="8759952" y="1444752"/>
              <a:ext cx="0" cy="237744"/>
            </a:xfrm>
            <a:prstGeom prst="line">
              <a:avLst/>
            </a:prstGeom>
            <a:noFill/>
            <a:ln w="25400">
              <a:solidFill>
                <a:schemeClr val="accent1"/>
              </a:solidFill>
              <a:prstDash val="solid"/>
            </a:ln>
          </p:spPr>
        </p:sp>
        <p:sp>
          <p:nvSpPr>
            <p:cNvPr id="28" name="3"/>
            <p:cNvSpPr/>
            <p:nvPr/>
          </p:nvSpPr>
          <p:spPr>
            <a:xfrm>
              <a:off x="10357409" y="1444752"/>
              <a:ext cx="237744" cy="0"/>
            </a:xfrm>
            <a:prstGeom prst="line">
              <a:avLst/>
            </a:prstGeom>
            <a:noFill/>
            <a:ln w="25400">
              <a:solidFill>
                <a:schemeClr val="accent1"/>
              </a:solidFill>
              <a:prstDash val="solid"/>
            </a:ln>
          </p:spPr>
        </p:sp>
        <p:sp>
          <p:nvSpPr>
            <p:cNvPr id="29" name="4"/>
            <p:cNvSpPr/>
            <p:nvPr/>
          </p:nvSpPr>
          <p:spPr>
            <a:xfrm>
              <a:off x="10595153" y="1444752"/>
              <a:ext cx="0" cy="237744"/>
            </a:xfrm>
            <a:prstGeom prst="line">
              <a:avLst/>
            </a:prstGeom>
            <a:noFill/>
            <a:ln w="25400">
              <a:solidFill>
                <a:schemeClr val="accent1"/>
              </a:solidFill>
              <a:prstDash val="solid"/>
            </a:ln>
          </p:spPr>
        </p:sp>
        <p:sp>
          <p:nvSpPr>
            <p:cNvPr id="30" name="5"/>
            <p:cNvSpPr/>
            <p:nvPr/>
          </p:nvSpPr>
          <p:spPr>
            <a:xfrm>
              <a:off x="8759952" y="5440680"/>
              <a:ext cx="237744" cy="0"/>
            </a:xfrm>
            <a:prstGeom prst="line">
              <a:avLst/>
            </a:prstGeom>
            <a:noFill/>
            <a:ln w="25400">
              <a:solidFill>
                <a:schemeClr val="accent1"/>
              </a:solidFill>
              <a:prstDash val="solid"/>
            </a:ln>
          </p:spPr>
        </p:sp>
        <p:sp>
          <p:nvSpPr>
            <p:cNvPr id="31" name="6"/>
            <p:cNvSpPr/>
            <p:nvPr/>
          </p:nvSpPr>
          <p:spPr>
            <a:xfrm>
              <a:off x="8759952" y="5202936"/>
              <a:ext cx="0" cy="237744"/>
            </a:xfrm>
            <a:prstGeom prst="line">
              <a:avLst/>
            </a:prstGeom>
            <a:noFill/>
            <a:ln w="25400">
              <a:solidFill>
                <a:schemeClr val="accent1"/>
              </a:solidFill>
              <a:prstDash val="solid"/>
            </a:ln>
          </p:spPr>
        </p:sp>
        <p:sp>
          <p:nvSpPr>
            <p:cNvPr id="32" name="7"/>
            <p:cNvSpPr/>
            <p:nvPr/>
          </p:nvSpPr>
          <p:spPr>
            <a:xfrm>
              <a:off x="10357409" y="5440680"/>
              <a:ext cx="237744" cy="0"/>
            </a:xfrm>
            <a:prstGeom prst="line">
              <a:avLst/>
            </a:prstGeom>
            <a:noFill/>
            <a:ln w="25400">
              <a:solidFill>
                <a:schemeClr val="accent1"/>
              </a:solidFill>
              <a:prstDash val="solid"/>
            </a:ln>
          </p:spPr>
        </p:sp>
        <p:sp>
          <p:nvSpPr>
            <p:cNvPr id="33" name="8"/>
            <p:cNvSpPr/>
            <p:nvPr/>
          </p:nvSpPr>
          <p:spPr>
            <a:xfrm>
              <a:off x="10595153" y="5202936"/>
              <a:ext cx="0" cy="237744"/>
            </a:xfrm>
            <a:prstGeom prst="line">
              <a:avLst/>
            </a:prstGeom>
            <a:noFill/>
            <a:ln w="25400">
              <a:solidFill>
                <a:schemeClr val="accent1"/>
              </a:solidFill>
              <a:prstDash val="solid"/>
            </a:ln>
          </p:spPr>
        </p:sp>
      </p:grpSp>
      <p:grpSp>
        <p:nvGrpSpPr>
          <p:cNvPr id="39" name="s1_tag"/>
          <p:cNvGrpSpPr/>
          <p:nvPr/>
        </p:nvGrpSpPr>
        <p:grpSpPr>
          <a:xfrm>
            <a:off x="8101584" y="3264408"/>
            <a:ext cx="658368" cy="384048"/>
            <a:chOff x="8101584" y="3264408"/>
            <a:chExt cx="658368" cy="384048"/>
          </a:xfrm>
        </p:grpSpPr>
        <p:sp>
          <p:nvSpPr>
            <p:cNvPr id="34" name="hex"/>
            <p:cNvSpPr/>
            <p:nvPr/>
          </p:nvSpPr>
          <p:spPr>
            <a:xfrm>
              <a:off x="8101584" y="3264408"/>
              <a:ext cx="438912" cy="384048"/>
            </a:xfrm>
            <a:prstGeom prst="hexagon">
              <a:avLst/>
            </a:prstGeom>
            <a:solidFill>
              <a:schemeClr val="bg1"/>
            </a:solidFill>
            <a:ln w="19050">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5</a:t>
              </a:r>
              <a:endParaRPr lang="en-US" sz="1300" dirty="0"/>
            </a:p>
          </p:txBody>
        </p:sp>
        <p:sp>
          <p:nvSpPr>
            <p:cNvPr id="35" name="leader"/>
            <p:cNvSpPr/>
            <p:nvPr/>
          </p:nvSpPr>
          <p:spPr>
            <a:xfrm>
              <a:off x="8540496" y="3456432"/>
              <a:ext cx="219456" cy="0"/>
            </a:xfrm>
            <a:prstGeom prst="line">
              <a:avLst/>
            </a:prstGeom>
            <a:noFill/>
            <a:ln w="12700">
              <a:solidFill>
                <a:schemeClr val="accent1"/>
              </a:solidFill>
              <a:prstDash val="solid"/>
            </a:ln>
          </p:spPr>
        </p:sp>
      </p:grpSp>
      <p:sp>
        <p:nvSpPr>
          <p:cNvPr id="36" name="s1_chip"/>
          <p:cNvSpPr txBox="1"/>
          <p:nvPr/>
        </p:nvSpPr>
        <p:spPr>
          <a:xfrm>
            <a:off x="8759952" y="5596128"/>
            <a:ext cx="2697480" cy="329184"/>
          </a:xfrm>
          <a:prstGeom prst="rect">
            <a:avLst/>
          </a:prstGeom>
          <a:solidFill>
            <a:schemeClr val="accent1">
              <a:alpha val="12000"/>
            </a:schemeClr>
          </a:solidFill>
          <a:ln w="12700">
            <a:solidFill>
              <a:schemeClr val="accent1"/>
            </a:solidFill>
          </a:ln>
        </p:spPr>
        <p:txBody>
          <a:bodyPr wrap="square" lIns="0" tIns="0" rIns="0" bIns="0" rtlCol="0" anchor="ctr"/>
          <a:lstStyle/>
          <a:p>
            <a:pPr algn="ctr" indent="0" marL="0">
              <a:buNone/>
            </a:pPr>
            <a:r>
              <a:rPr lang="en-US" sz="1000" b="1" dirty="0">
                <a:solidFill>
                  <a:schemeClr val="accent1"/>
                </a:solidFill>
                <a:latin typeface="Consolas" pitchFamily="34" charset="0"/>
                <a:ea typeface="Consolas" pitchFamily="34" charset="-122"/>
                <a:cs typeface="Consolas" pitchFamily="34" charset="-120"/>
              </a:rPr>
              <a:t>5·3</a:t>
            </a:r>
            <a:pPr algn="ctr" indent="0" marL="0">
              <a:buNone/>
            </a:pPr>
            <a:r>
              <a:rPr lang="en-US" sz="1000" dirty="0">
                <a:solidFill>
                  <a:schemeClr val="tx1"/>
                </a:solidFill>
                <a:latin typeface="Consolas" pitchFamily="34" charset="0"/>
                <a:ea typeface="Consolas" pitchFamily="34" charset="-122"/>
                <a:cs typeface="Consolas" pitchFamily="34" charset="-120"/>
              </a:rPr>
              <a:t>  /  30 × 72 IN  /  CASEMENT</a:t>
            </a:r>
            <a:endParaRPr lang="en-US" sz="1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2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600"/>
                                        <p:tgtEl>
                                          <p:spTgt spid="37"/>
                                        </p:tgtEl>
                                      </p:cBhvr>
                                    </p:animEffect>
                                    <p:anim calcmode="lin" valueType="num">
                                      <p:cBhvr>
                                        <p:cTn id="13" dur="600" decel="100000" fill="hold"/>
                                        <p:tgtEl>
                                          <p:spTgt spid="37"/>
                                        </p:tgtEl>
                                        <p:attrNameLst>
                                          <p:attrName>ppt_x</p:attrName>
                                        </p:attrNameLst>
                                      </p:cBhvr>
                                      <p:tavLst>
                                        <p:tav tm="0">
                                          <p:val>
                                            <p:strVal val="#ppt_x"/>
                                          </p:val>
                                        </p:tav>
                                        <p:tav tm="100000">
                                          <p:val>
                                            <p:strVal val="#ppt_x"/>
                                          </p:val>
                                        </p:tav>
                                      </p:tavLst>
                                    </p:anim>
                                    <p:anim calcmode="lin" valueType="num">
                                      <p:cBhvr>
                                        <p:cTn id="14" dur="600" decel="100000" fill="hold"/>
                                        <p:tgtEl>
                                          <p:spTgt spid="37"/>
                                        </p:tgtEl>
                                        <p:attrNameLst>
                                          <p:attrName>ppt_y</p:attrName>
                                        </p:attrNameLst>
                                      </p:cBhvr>
                                      <p:tavLst>
                                        <p:tav tm="0">
                                          <p:val>
                                            <p:strVal val="#ppt_y+.025"/>
                                          </p:val>
                                        </p:tav>
                                        <p:tav tm="100000">
                                          <p:val>
                                            <p:strVal val="#ppt_y"/>
                                          </p:val>
                                        </p:tav>
                                      </p:tavLst>
                                    </p:anim>
                                  </p:childTnLst>
                                </p:cTn>
                              </p:par>
                              <p:par>
                                <p:cTn id="15" presetID="42" presetClass="entr" presetSubtype="0" fill="hold" grpId="0" nodeType="withEffect">
                                  <p:stCondLst>
                                    <p:cond delay="3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anim calcmode="lin" valueType="num">
                                      <p:cBhvr>
                                        <p:cTn id="18" dur="600" decel="100000" fill="hold"/>
                                        <p:tgtEl>
                                          <p:spTgt spid="7"/>
                                        </p:tgtEl>
                                        <p:attrNameLst>
                                          <p:attrName>ppt_x</p:attrName>
                                        </p:attrNameLst>
                                      </p:cBhvr>
                                      <p:tavLst>
                                        <p:tav tm="0">
                                          <p:val>
                                            <p:strVal val="#ppt_x"/>
                                          </p:val>
                                        </p:tav>
                                        <p:tav tm="100000">
                                          <p:val>
                                            <p:strVal val="#ppt_x"/>
                                          </p:val>
                                        </p:tav>
                                      </p:tavLst>
                                    </p:anim>
                                    <p:anim calcmode="lin" valueType="num">
                                      <p:cBhvr>
                                        <p:cTn id="19" dur="600" decel="100000" fill="hold"/>
                                        <p:tgtEl>
                                          <p:spTgt spid="7"/>
                                        </p:tgtEl>
                                        <p:attrNameLst>
                                          <p:attrName>ppt_y</p:attrName>
                                        </p:attrNameLst>
                                      </p:cBhvr>
                                      <p:tavLst>
                                        <p:tav tm="0">
                                          <p:val>
                                            <p:strVal val="#ppt_y+.025"/>
                                          </p:val>
                                        </p:tav>
                                        <p:tav tm="100000">
                                          <p:val>
                                            <p:strVal val="#ppt_y"/>
                                          </p:val>
                                        </p:tav>
                                      </p:tavLst>
                                    </p:anim>
                                  </p:childTnLst>
                                </p:cTn>
                              </p:par>
                              <p:par>
                                <p:cTn id="20" presetID="42" presetClass="entr" presetSubtype="0" fill="hold" grpId="0" nodeType="withEffect">
                                  <p:stCondLst>
                                    <p:cond delay="4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ppt_x</p:attrName>
                                        </p:attrNameLst>
                                      </p:cBhvr>
                                      <p:tavLst>
                                        <p:tav tm="0">
                                          <p:val>
                                            <p:strVal val="#ppt_x"/>
                                          </p:val>
                                        </p:tav>
                                        <p:tav tm="100000">
                                          <p:val>
                                            <p:strVal val="#ppt_x"/>
                                          </p:val>
                                        </p:tav>
                                      </p:tavLst>
                                    </p:anim>
                                    <p:anim calcmode="lin" valueType="num">
                                      <p:cBhvr>
                                        <p:cTn id="24" dur="600" decel="100000" fill="hold"/>
                                        <p:tgtEl>
                                          <p:spTgt spid="8"/>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60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par>
                                <p:cTn id="28" presetID="42" presetClass="entr" presetSubtype="0" fill="hold" grpId="0" nodeType="withEffect">
                                  <p:stCondLst>
                                    <p:cond delay="70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600"/>
                                        <p:tgtEl>
                                          <p:spTgt spid="39"/>
                                        </p:tgtEl>
                                      </p:cBhvr>
                                    </p:animEffect>
                                    <p:anim calcmode="lin" valueType="num">
                                      <p:cBhvr>
                                        <p:cTn id="31" dur="600" decel="100000" fill="hold"/>
                                        <p:tgtEl>
                                          <p:spTgt spid="39"/>
                                        </p:tgtEl>
                                        <p:attrNameLst>
                                          <p:attrName>ppt_x</p:attrName>
                                        </p:attrNameLst>
                                      </p:cBhvr>
                                      <p:tavLst>
                                        <p:tav tm="0">
                                          <p:val>
                                            <p:strVal val="#ppt_x"/>
                                          </p:val>
                                        </p:tav>
                                        <p:tav tm="100000">
                                          <p:val>
                                            <p:strVal val="#ppt_x"/>
                                          </p:val>
                                        </p:tav>
                                      </p:tavLst>
                                    </p:anim>
                                    <p:anim calcmode="lin" valueType="num">
                                      <p:cBhvr>
                                        <p:cTn id="32" dur="600" decel="100000" fill="hold"/>
                                        <p:tgtEl>
                                          <p:spTgt spid="39"/>
                                        </p:tgtEl>
                                        <p:attrNameLst>
                                          <p:attrName>ppt_y</p:attrName>
                                        </p:attrNameLst>
                                      </p:cBhvr>
                                      <p:tavLst>
                                        <p:tav tm="0">
                                          <p:val>
                                            <p:strVal val="#ppt_y+.025"/>
                                          </p:val>
                                        </p:tav>
                                        <p:tav tm="100000">
                                          <p:val>
                                            <p:strVal val="#ppt_y"/>
                                          </p:val>
                                        </p:tav>
                                      </p:tavLst>
                                    </p:anim>
                                  </p:childTnLst>
                                </p:cTn>
                              </p:par>
                              <p:par>
                                <p:cTn id="33" presetID="42" presetClass="entr" presetSubtype="0" fill="hold" grpId="0" nodeType="withEffect">
                                  <p:stCondLst>
                                    <p:cond delay="82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600"/>
                                        <p:tgtEl>
                                          <p:spTgt spid="36"/>
                                        </p:tgtEl>
                                      </p:cBhvr>
                                    </p:animEffect>
                                    <p:anim calcmode="lin" valueType="num">
                                      <p:cBhvr>
                                        <p:cTn id="36" dur="600" decel="100000" fill="hold"/>
                                        <p:tgtEl>
                                          <p:spTgt spid="36"/>
                                        </p:tgtEl>
                                        <p:attrNameLst>
                                          <p:attrName>ppt_x</p:attrName>
                                        </p:attrNameLst>
                                      </p:cBhvr>
                                      <p:tavLst>
                                        <p:tav tm="0">
                                          <p:val>
                                            <p:strVal val="#ppt_x"/>
                                          </p:val>
                                        </p:tav>
                                        <p:tav tm="100000">
                                          <p:val>
                                            <p:strVal val="#ppt_x"/>
                                          </p:val>
                                        </p:tav>
                                      </p:tavLst>
                                    </p:anim>
                                    <p:anim calcmode="lin" valueType="num">
                                      <p:cBhvr>
                                        <p:cTn id="37" dur="600" decel="100000" fill="hold"/>
                                        <p:tgtEl>
                                          <p:spTgt spid="3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3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ursor"/>
          <p:cNvSpPr/>
          <p:nvPr/>
        </p:nvSpPr>
        <p:spPr>
          <a:xfrm rot="5400000">
            <a:off x="182880" y="1743891"/>
            <a:ext cx="164592" cy="146304"/>
          </a:xfrm>
          <a:prstGeom prst="triangle">
            <a:avLst/>
          </a:prstGeom>
          <a:solidFill>
            <a:schemeClr val="accent1"/>
          </a:solidFill>
          <a:ln/>
        </p:spPr>
      </p:sp>
      <p:sp>
        <p:nvSpPr>
          <p:cNvPr id="3" name="!!cursorTick"/>
          <p:cNvSpPr/>
          <p:nvPr/>
        </p:nvSpPr>
        <p:spPr>
          <a:xfrm>
            <a:off x="411480" y="1817043"/>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02 / 07</a:t>
            </a:r>
            <a:endParaRPr lang="en-US" sz="1000" dirty="0"/>
          </a:p>
        </p:txBody>
      </p:sp>
      <p:sp>
        <p:nvSpPr>
          <p:cNvPr id="5" name="s2_eyebrow"/>
          <p:cNvSpPr txBox="1"/>
          <p:nvPr/>
        </p:nvSpPr>
        <p:spPr>
          <a:xfrm>
            <a:off x="868680" y="914400"/>
            <a:ext cx="54864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01 / THE PROBLEM</a:t>
            </a:r>
            <a:endParaRPr lang="en-US" sz="1050" dirty="0"/>
          </a:p>
        </p:txBody>
      </p:sp>
      <p:sp>
        <p:nvSpPr>
          <p:cNvPr id="6" name="!!title"/>
          <p:cNvSpPr/>
          <p:nvPr>
            <p:ph idx="103" type="title" hasCustomPrompt="1"/>
          </p:nvPr>
        </p:nvSpPr>
        <p:spPr>
          <a:xfrm>
            <a:off x="868680" y="1188720"/>
            <a:ext cx="10424160" cy="731520"/>
          </a:xfrm>
          <a:prstGeom prst="rect">
            <a:avLst/>
          </a:prstGeom>
          <a:noFill/>
          <a:ln/>
        </p:spPr>
        <p:txBody>
          <a:bodyPr wrap="square" lIns="0" tIns="0" rIns="0" bIns="0" rtlCol="0" anchor="t"/>
          <a:lstStyle/>
          <a:p>
            <a:pPr algn="l" indent="0" marL="0">
              <a:lnSpc>
                <a:spcPct val="88000"/>
              </a:lnSpc>
              <a:buNone/>
            </a:pPr>
            <a:r>
              <a:rPr lang="en-US" sz="4000" b="1" dirty="0">
                <a:solidFill>
                  <a:schemeClr val="tx1"/>
                </a:solidFill>
                <a:latin typeface="Arial Narrow" pitchFamily="34" charset="0"/>
                <a:ea typeface="Arial Narrow" pitchFamily="34" charset="-122"/>
                <a:cs typeface="Arial Narrow" pitchFamily="34" charset="-120"/>
              </a:rPr>
              <a:t>THE TAKEOFF IS STILL DONE BY HAND.</a:t>
            </a:r>
            <a:endParaRPr lang="en-US" sz="4000" dirty="0"/>
          </a:p>
        </p:txBody>
      </p:sp>
      <p:grpSp>
        <p:nvGrpSpPr>
          <p:cNvPr id="44" name="s2_f1"/>
          <p:cNvGrpSpPr/>
          <p:nvPr/>
        </p:nvGrpSpPr>
        <p:grpSpPr>
          <a:xfrm>
            <a:off x="868680" y="2331720"/>
            <a:ext cx="4023360" cy="1024128"/>
            <a:chOff x="868680" y="2331720"/>
            <a:chExt cx="4023360" cy="1024128"/>
          </a:xfrm>
        </p:grpSpPr>
        <p:sp>
          <p:nvSpPr>
            <p:cNvPr id="7" name="n"/>
            <p:cNvSpPr txBox="1"/>
            <p:nvPr/>
          </p:nvSpPr>
          <p:spPr>
            <a:xfrm>
              <a:off x="868680" y="2331720"/>
              <a:ext cx="1783080" cy="731520"/>
            </a:xfrm>
            <a:prstGeom prst="rect">
              <a:avLst/>
            </a:prstGeom>
            <a:noFill/>
            <a:ln/>
          </p:spPr>
          <p:txBody>
            <a:bodyPr wrap="square" lIns="0" tIns="0" rIns="0" bIns="0" rtlCol="0" anchor="t"/>
            <a:lstStyle/>
            <a:p>
              <a:pPr indent="0" marL="0">
                <a:buNone/>
              </a:pPr>
              <a:r>
                <a:rPr lang="en-US" sz="4200" b="1" dirty="0">
                  <a:solidFill>
                    <a:schemeClr val="tx1"/>
                  </a:solidFill>
                  <a:latin typeface="Arial Narrow" pitchFamily="34" charset="0"/>
                  <a:ea typeface="Arial Narrow" pitchFamily="34" charset="-122"/>
                  <a:cs typeface="Arial Narrow" pitchFamily="34" charset="-120"/>
                </a:rPr>
                <a:t>30–90</a:t>
              </a:r>
              <a:endParaRPr lang="en-US" sz="4200" dirty="0"/>
            </a:p>
          </p:txBody>
        </p:sp>
        <p:sp>
          <p:nvSpPr>
            <p:cNvPr id="8" name="t"/>
            <p:cNvSpPr txBox="1"/>
            <p:nvPr/>
          </p:nvSpPr>
          <p:spPr>
            <a:xfrm>
              <a:off x="2743200" y="2386584"/>
              <a:ext cx="2148840" cy="8229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pages in one drawing set, with each window's facts spread across them</a:t>
              </a:r>
              <a:endParaRPr lang="en-US" sz="1400" dirty="0"/>
            </a:p>
          </p:txBody>
        </p:sp>
        <p:sp>
          <p:nvSpPr>
            <p:cNvPr id="9" name="rule"/>
            <p:cNvSpPr/>
            <p:nvPr/>
          </p:nvSpPr>
          <p:spPr>
            <a:xfrm>
              <a:off x="868680" y="3355848"/>
              <a:ext cx="4023360" cy="0"/>
            </a:xfrm>
            <a:prstGeom prst="line">
              <a:avLst/>
            </a:prstGeom>
            <a:noFill/>
            <a:ln w="9525">
              <a:solidFill>
                <a:schemeClr val="accent6"/>
              </a:solidFill>
              <a:prstDash val="solid"/>
            </a:ln>
          </p:spPr>
        </p:sp>
      </p:grpSp>
      <p:grpSp>
        <p:nvGrpSpPr>
          <p:cNvPr id="45" name="s2_f2"/>
          <p:cNvGrpSpPr/>
          <p:nvPr/>
        </p:nvGrpSpPr>
        <p:grpSpPr>
          <a:xfrm>
            <a:off x="868680" y="3520440"/>
            <a:ext cx="4023360" cy="1024128"/>
            <a:chOff x="868680" y="3520440"/>
            <a:chExt cx="4023360" cy="1024128"/>
          </a:xfrm>
        </p:grpSpPr>
        <p:sp>
          <p:nvSpPr>
            <p:cNvPr id="10" name="n"/>
            <p:cNvSpPr txBox="1"/>
            <p:nvPr/>
          </p:nvSpPr>
          <p:spPr>
            <a:xfrm>
              <a:off x="868680" y="3520440"/>
              <a:ext cx="1783080" cy="731520"/>
            </a:xfrm>
            <a:prstGeom prst="rect">
              <a:avLst/>
            </a:prstGeom>
            <a:noFill/>
            <a:ln/>
          </p:spPr>
          <p:txBody>
            <a:bodyPr wrap="square" lIns="0" tIns="0" rIns="0" bIns="0" rtlCol="0" anchor="t"/>
            <a:lstStyle/>
            <a:p>
              <a:pPr indent="0" marL="0">
                <a:buNone/>
              </a:pPr>
              <a:r>
                <a:rPr lang="en-US" sz="4200" b="1" dirty="0">
                  <a:solidFill>
                    <a:schemeClr val="tx1"/>
                  </a:solidFill>
                  <a:latin typeface="Arial Narrow" pitchFamily="34" charset="0"/>
                  <a:ea typeface="Arial Narrow" pitchFamily="34" charset="-122"/>
                  <a:cs typeface="Arial Narrow" pitchFamily="34" charset="-120"/>
                </a:rPr>
                <a:t>HOURS</a:t>
              </a:r>
              <a:endParaRPr lang="en-US" sz="4200" dirty="0"/>
            </a:p>
          </p:txBody>
        </p:sp>
        <p:sp>
          <p:nvSpPr>
            <p:cNvPr id="11" name="t"/>
            <p:cNvSpPr txBox="1"/>
            <p:nvPr/>
          </p:nvSpPr>
          <p:spPr>
            <a:xfrm>
              <a:off x="2743200" y="3575304"/>
              <a:ext cx="2148840" cy="8229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to find the pages, count every opening and type it all in by hand</a:t>
              </a:r>
              <a:endParaRPr lang="en-US" sz="1400" dirty="0"/>
            </a:p>
          </p:txBody>
        </p:sp>
        <p:sp>
          <p:nvSpPr>
            <p:cNvPr id="12" name="rule"/>
            <p:cNvSpPr/>
            <p:nvPr/>
          </p:nvSpPr>
          <p:spPr>
            <a:xfrm>
              <a:off x="868680" y="4544568"/>
              <a:ext cx="4023360" cy="0"/>
            </a:xfrm>
            <a:prstGeom prst="line">
              <a:avLst/>
            </a:prstGeom>
            <a:noFill/>
            <a:ln w="9525">
              <a:solidFill>
                <a:schemeClr val="accent6"/>
              </a:solidFill>
              <a:prstDash val="solid"/>
            </a:ln>
          </p:spPr>
        </p:sp>
      </p:grpSp>
      <p:grpSp>
        <p:nvGrpSpPr>
          <p:cNvPr id="46" name="s2_f3"/>
          <p:cNvGrpSpPr/>
          <p:nvPr/>
        </p:nvGrpSpPr>
        <p:grpSpPr>
          <a:xfrm>
            <a:off x="868680" y="4709160"/>
            <a:ext cx="4023360" cy="877824"/>
            <a:chOff x="868680" y="4709160"/>
            <a:chExt cx="4023360" cy="877824"/>
          </a:xfrm>
        </p:grpSpPr>
        <p:sp>
          <p:nvSpPr>
            <p:cNvPr id="13" name="n"/>
            <p:cNvSpPr txBox="1"/>
            <p:nvPr/>
          </p:nvSpPr>
          <p:spPr>
            <a:xfrm>
              <a:off x="868680" y="4709160"/>
              <a:ext cx="1783080" cy="731520"/>
            </a:xfrm>
            <a:prstGeom prst="rect">
              <a:avLst/>
            </a:prstGeom>
            <a:noFill/>
            <a:ln/>
          </p:spPr>
          <p:txBody>
            <a:bodyPr wrap="square" lIns="0" tIns="0" rIns="0" bIns="0" rtlCol="0" anchor="t"/>
            <a:lstStyle/>
            <a:p>
              <a:pPr indent="0" marL="0">
                <a:buNone/>
              </a:pPr>
              <a:r>
                <a:rPr lang="en-US" sz="4200" b="1" dirty="0">
                  <a:solidFill>
                    <a:schemeClr val="tx1"/>
                  </a:solidFill>
                  <a:latin typeface="Arial Narrow" pitchFamily="34" charset="0"/>
                  <a:ea typeface="Arial Narrow" pitchFamily="34" charset="-122"/>
                  <a:cs typeface="Arial Narrow" pitchFamily="34" charset="-120"/>
                </a:rPr>
                <a:t>4×</a:t>
              </a:r>
              <a:endParaRPr lang="en-US" sz="4200" dirty="0"/>
            </a:p>
          </p:txBody>
        </p:sp>
        <p:sp>
          <p:nvSpPr>
            <p:cNvPr id="14" name="t"/>
            <p:cNvSpPr txBox="1"/>
            <p:nvPr/>
          </p:nvSpPr>
          <p:spPr>
            <a:xfrm>
              <a:off x="2743200" y="4764024"/>
              <a:ext cx="2148840" cy="8229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retyped after that, and no number can be traced back to the drawing</a:t>
              </a:r>
              <a:endParaRPr lang="en-US" sz="1400" dirty="0"/>
            </a:p>
          </p:txBody>
        </p:sp>
      </p:grpSp>
      <p:grpSp>
        <p:nvGrpSpPr>
          <p:cNvPr id="47" name="s2_cards"/>
          <p:cNvGrpSpPr/>
          <p:nvPr/>
        </p:nvGrpSpPr>
        <p:grpSpPr>
          <a:xfrm>
            <a:off x="5349240" y="2148840"/>
            <a:ext cx="5943600" cy="2240280"/>
            <a:chOff x="5349240" y="2148840"/>
            <a:chExt cx="5943600" cy="2240280"/>
          </a:xfrm>
        </p:grpSpPr>
        <p:sp>
          <p:nvSpPr>
            <p:cNvPr id="15" name="label"/>
            <p:cNvSpPr txBox="1"/>
            <p:nvPr/>
          </p:nvSpPr>
          <p:spPr>
            <a:xfrm>
              <a:off x="5349240" y="2148840"/>
              <a:ext cx="3657600" cy="237744"/>
            </a:xfrm>
            <a:prstGeom prst="rect">
              <a:avLst/>
            </a:prstGeom>
            <a:noFill/>
            <a:ln/>
          </p:spPr>
          <p:txBody>
            <a:bodyPr wrap="square" lIns="0" tIns="0" rIns="0" bIns="0" rtlCol="0" anchor="ctr"/>
            <a:lstStyle/>
            <a:p>
              <a:pPr indent="0" marL="0">
                <a:buNone/>
              </a:pPr>
              <a:r>
                <a:rPr lang="en-US" sz="1000" spc="100" kern="0" dirty="0">
                  <a:solidFill>
                    <a:schemeClr val="accent5"/>
                  </a:solidFill>
                  <a:latin typeface="Consolas" pitchFamily="34" charset="0"/>
                  <a:ea typeface="Consolas" pitchFamily="34" charset="-122"/>
                  <a:cs typeface="Consolas" pitchFamily="34" charset="-120"/>
                </a:rPr>
                <a:t>ONE WINDOW, TODAY</a:t>
              </a:r>
              <a:endParaRPr lang="en-US" sz="1000" dirty="0"/>
            </a:p>
          </p:txBody>
        </p:sp>
        <p:sp>
          <p:nvSpPr>
            <p:cNvPr id="16" name="carda"/>
            <p:cNvSpPr/>
            <p:nvPr/>
          </p:nvSpPr>
          <p:spPr>
            <a:xfrm>
              <a:off x="5349240" y="2514600"/>
              <a:ext cx="2743200" cy="1874520"/>
            </a:xfrm>
            <a:prstGeom prst="rect">
              <a:avLst/>
            </a:prstGeom>
            <a:solidFill>
              <a:schemeClr val="bg2"/>
            </a:solidFill>
            <a:ln w="12700">
              <a:solidFill>
                <a:schemeClr val="accent6"/>
              </a:solidFill>
              <a:prstDash val="solid"/>
            </a:ln>
          </p:spPr>
        </p:sp>
        <p:sp>
          <p:nvSpPr>
            <p:cNvPr id="17" name="heada"/>
            <p:cNvSpPr txBox="1"/>
            <p:nvPr/>
          </p:nvSpPr>
          <p:spPr>
            <a:xfrm>
              <a:off x="5513832" y="2642616"/>
              <a:ext cx="2414016"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A-2.1 · FLOOR PLAN</a:t>
              </a:r>
              <a:endParaRPr lang="en-US" sz="1000" dirty="0"/>
            </a:p>
          </p:txBody>
        </p:sp>
        <p:sp>
          <p:nvSpPr>
            <p:cNvPr id="18" name="cardb"/>
            <p:cNvSpPr/>
            <p:nvPr/>
          </p:nvSpPr>
          <p:spPr>
            <a:xfrm>
              <a:off x="8549640" y="2514600"/>
              <a:ext cx="2743200" cy="1874520"/>
            </a:xfrm>
            <a:prstGeom prst="rect">
              <a:avLst/>
            </a:prstGeom>
            <a:solidFill>
              <a:schemeClr val="bg2"/>
            </a:solidFill>
            <a:ln w="12700">
              <a:solidFill>
                <a:schemeClr val="accent6"/>
              </a:solidFill>
              <a:prstDash val="solid"/>
            </a:ln>
          </p:spPr>
        </p:sp>
        <p:sp>
          <p:nvSpPr>
            <p:cNvPr id="19" name="headb"/>
            <p:cNvSpPr txBox="1"/>
            <p:nvPr/>
          </p:nvSpPr>
          <p:spPr>
            <a:xfrm>
              <a:off x="8714232" y="2642616"/>
              <a:ext cx="2414016"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A-4.1 · WINDOW SCHEDULE</a:t>
              </a:r>
              <a:endParaRPr lang="en-US" sz="1000" dirty="0"/>
            </a:p>
          </p:txBody>
        </p:sp>
        <p:sp>
          <p:nvSpPr>
            <p:cNvPr id="20" name="wall1"/>
            <p:cNvSpPr/>
            <p:nvPr/>
          </p:nvSpPr>
          <p:spPr>
            <a:xfrm>
              <a:off x="5532120" y="3310128"/>
              <a:ext cx="777240" cy="0"/>
            </a:xfrm>
            <a:prstGeom prst="line">
              <a:avLst/>
            </a:prstGeom>
            <a:noFill/>
            <a:ln w="63500">
              <a:solidFill>
                <a:schemeClr val="tx1"/>
              </a:solidFill>
              <a:prstDash val="solid"/>
            </a:ln>
          </p:spPr>
        </p:sp>
        <p:sp>
          <p:nvSpPr>
            <p:cNvPr id="21" name="wall2"/>
            <p:cNvSpPr/>
            <p:nvPr/>
          </p:nvSpPr>
          <p:spPr>
            <a:xfrm>
              <a:off x="7132320" y="3310128"/>
              <a:ext cx="777240" cy="0"/>
            </a:xfrm>
            <a:prstGeom prst="line">
              <a:avLst/>
            </a:prstGeom>
            <a:noFill/>
            <a:ln w="63500">
              <a:solidFill>
                <a:schemeClr val="tx1"/>
              </a:solidFill>
              <a:prstDash val="solid"/>
            </a:ln>
          </p:spPr>
        </p:sp>
        <p:sp>
          <p:nvSpPr>
            <p:cNvPr id="22" name="win"/>
            <p:cNvSpPr/>
            <p:nvPr/>
          </p:nvSpPr>
          <p:spPr>
            <a:xfrm>
              <a:off x="6309360" y="3246120"/>
              <a:ext cx="822960" cy="128016"/>
            </a:xfrm>
            <a:prstGeom prst="rect">
              <a:avLst/>
            </a:prstGeom>
            <a:ln w="12700">
              <a:solidFill>
                <a:schemeClr val="tx1"/>
              </a:solidFill>
              <a:prstDash val="solid"/>
            </a:ln>
          </p:spPr>
        </p:sp>
        <p:sp>
          <p:nvSpPr>
            <p:cNvPr id="23" name="glass"/>
            <p:cNvSpPr/>
            <p:nvPr/>
          </p:nvSpPr>
          <p:spPr>
            <a:xfrm>
              <a:off x="6309360" y="3310128"/>
              <a:ext cx="822960" cy="0"/>
            </a:xfrm>
            <a:prstGeom prst="line">
              <a:avLst/>
            </a:prstGeom>
            <a:noFill/>
            <a:ln w="9525">
              <a:solidFill>
                <a:schemeClr val="tx2"/>
              </a:solidFill>
              <a:prstDash val="solid"/>
            </a:ln>
          </p:spPr>
        </p:sp>
        <p:sp>
          <p:nvSpPr>
            <p:cNvPr id="24" name="room"/>
            <p:cNvSpPr txBox="1"/>
            <p:nvPr/>
          </p:nvSpPr>
          <p:spPr>
            <a:xfrm>
              <a:off x="5532120" y="4005072"/>
              <a:ext cx="1463040" cy="219456"/>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6-CAR GARAGE</a:t>
              </a:r>
              <a:endParaRPr lang="en-US" sz="1000" dirty="0"/>
            </a:p>
          </p:txBody>
        </p:sp>
        <p:sp>
          <p:nvSpPr>
            <p:cNvPr id="25" name="hex"/>
            <p:cNvSpPr/>
            <p:nvPr/>
          </p:nvSpPr>
          <p:spPr>
            <a:xfrm>
              <a:off x="6519672" y="3547872"/>
              <a:ext cx="402336" cy="347472"/>
            </a:xfrm>
            <a:prstGeom prst="hexagon">
              <a:avLst/>
            </a:prstGeom>
            <a:solidFill>
              <a:schemeClr val="bg2"/>
            </a:solidFill>
            <a:ln w="19050">
              <a:solidFill>
                <a:schemeClr val="accent1"/>
              </a:solid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5</a:t>
              </a:r>
              <a:endParaRPr lang="en-US" sz="1100" dirty="0"/>
            </a:p>
          </p:txBody>
        </p:sp>
        <p:sp>
          <p:nvSpPr>
            <p:cNvPr id="26" name="lead"/>
            <p:cNvSpPr/>
            <p:nvPr/>
          </p:nvSpPr>
          <p:spPr>
            <a:xfrm>
              <a:off x="6720840" y="3374136"/>
              <a:ext cx="0" cy="173736"/>
            </a:xfrm>
            <a:prstGeom prst="line">
              <a:avLst/>
            </a:prstGeom>
            <a:noFill/>
            <a:ln w="12700">
              <a:solidFill>
                <a:schemeClr val="accent1"/>
              </a:solidFill>
              <a:prstDash val="solid"/>
            </a:ln>
          </p:spPr>
        </p:sp>
        <p:sp>
          <p:nvSpPr>
            <p:cNvPr id="27" name="row0"/>
            <p:cNvSpPr txBox="1"/>
            <p:nvPr/>
          </p:nvSpPr>
          <p:spPr>
            <a:xfrm>
              <a:off x="8714232" y="2944368"/>
              <a:ext cx="2468880" cy="274320"/>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3  </a:t>
              </a:r>
              <a:pPr indent="0" marL="0">
                <a:buNone/>
              </a:pPr>
              <a:r>
                <a:rPr lang="en-US" sz="1000" dirty="0">
                  <a:solidFill>
                    <a:schemeClr val="tx1"/>
                  </a:solidFill>
                  <a:latin typeface="Consolas" pitchFamily="34" charset="0"/>
                  <a:ea typeface="Consolas" pitchFamily="34" charset="-122"/>
                  <a:cs typeface="Consolas" pitchFamily="34" charset="-120"/>
                </a:rPr>
                <a:t>3'-0" × 6'-0"  CASEMENT 10</a:t>
              </a:r>
              <a:endParaRPr lang="en-US" sz="1000" dirty="0"/>
            </a:p>
          </p:txBody>
        </p:sp>
        <p:sp>
          <p:nvSpPr>
            <p:cNvPr id="28" name="hl"/>
            <p:cNvSpPr/>
            <p:nvPr/>
          </p:nvSpPr>
          <p:spPr>
            <a:xfrm>
              <a:off x="8641080" y="3291840"/>
              <a:ext cx="2560320" cy="310896"/>
            </a:xfrm>
            <a:prstGeom prst="rect">
              <a:avLst/>
            </a:prstGeom>
            <a:solidFill>
              <a:schemeClr val="accent1">
                <a:alpha val="16000"/>
              </a:schemeClr>
            </a:solidFill>
            <a:ln w="9525">
              <a:solidFill>
                <a:schemeClr val="accent1"/>
              </a:solidFill>
              <a:prstDash val="solid"/>
            </a:ln>
          </p:spPr>
        </p:sp>
        <p:sp>
          <p:nvSpPr>
            <p:cNvPr id="29" name="row1"/>
            <p:cNvSpPr txBox="1"/>
            <p:nvPr/>
          </p:nvSpPr>
          <p:spPr>
            <a:xfrm>
              <a:off x="8714232" y="3310128"/>
              <a:ext cx="246888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nsolas" pitchFamily="34" charset="0"/>
                  <a:ea typeface="Consolas" pitchFamily="34" charset="-122"/>
                  <a:cs typeface="Consolas" pitchFamily="34" charset="-120"/>
                </a:rPr>
                <a:t>5  </a:t>
              </a:r>
              <a:pPr indent="0" marL="0">
                <a:buNone/>
              </a:pPr>
              <a:r>
                <a:rPr lang="en-US" sz="1000" dirty="0">
                  <a:solidFill>
                    <a:schemeClr val="tx1"/>
                  </a:solidFill>
                  <a:latin typeface="Consolas" pitchFamily="34" charset="0"/>
                  <a:ea typeface="Consolas" pitchFamily="34" charset="-122"/>
                  <a:cs typeface="Consolas" pitchFamily="34" charset="-120"/>
                </a:rPr>
                <a:t>2'-6" × 6'-0"  CASEMENT 15</a:t>
              </a:r>
              <a:endParaRPr lang="en-US" sz="1000" dirty="0"/>
            </a:p>
          </p:txBody>
        </p:sp>
        <p:sp>
          <p:nvSpPr>
            <p:cNvPr id="30" name="row2"/>
            <p:cNvSpPr txBox="1"/>
            <p:nvPr/>
          </p:nvSpPr>
          <p:spPr>
            <a:xfrm>
              <a:off x="8714232" y="3675888"/>
              <a:ext cx="2468880" cy="274320"/>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7  </a:t>
              </a:r>
              <a:pPr indent="0" marL="0">
                <a:buNone/>
              </a:pPr>
              <a:r>
                <a:rPr lang="en-US" sz="1000" dirty="0">
                  <a:solidFill>
                    <a:schemeClr val="tx1"/>
                  </a:solidFill>
                  <a:latin typeface="Consolas" pitchFamily="34" charset="0"/>
                  <a:ea typeface="Consolas" pitchFamily="34" charset="-122"/>
                  <a:cs typeface="Consolas" pitchFamily="34" charset="-120"/>
                </a:rPr>
                <a:t>3'-0" × 8'-0"  PICTURE   6</a:t>
              </a:r>
              <a:endParaRPr lang="en-US" sz="1000" dirty="0"/>
            </a:p>
          </p:txBody>
        </p:sp>
        <p:sp>
          <p:nvSpPr>
            <p:cNvPr id="31" name="note"/>
            <p:cNvSpPr txBox="1"/>
            <p:nvPr/>
          </p:nvSpPr>
          <p:spPr>
            <a:xfrm>
              <a:off x="8714232" y="4005072"/>
              <a:ext cx="2468880" cy="219456"/>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Defined pages away from its tag</a:t>
              </a:r>
              <a:endParaRPr lang="en-US" sz="1000" dirty="0"/>
            </a:p>
          </p:txBody>
        </p:sp>
      </p:grpSp>
      <p:grpSp>
        <p:nvGrpSpPr>
          <p:cNvPr id="48" name="s2_link"/>
          <p:cNvGrpSpPr/>
          <p:nvPr/>
        </p:nvGrpSpPr>
        <p:grpSpPr>
          <a:xfrm>
            <a:off x="6922008" y="3447288"/>
            <a:ext cx="1719072" cy="758952"/>
            <a:chOff x="6922008" y="3447288"/>
            <a:chExt cx="1719072" cy="758952"/>
          </a:xfrm>
        </p:grpSpPr>
        <p:sp>
          <p:nvSpPr>
            <p:cNvPr id="32" name="1"/>
            <p:cNvSpPr/>
            <p:nvPr/>
          </p:nvSpPr>
          <p:spPr>
            <a:xfrm>
              <a:off x="6922008" y="3721608"/>
              <a:ext cx="1399032" cy="0"/>
            </a:xfrm>
            <a:prstGeom prst="line">
              <a:avLst/>
            </a:prstGeom>
            <a:noFill/>
            <a:ln w="15875">
              <a:solidFill>
                <a:schemeClr val="accent1"/>
              </a:solidFill>
              <a:prstDash val="dash"/>
            </a:ln>
          </p:spPr>
        </p:sp>
        <p:sp>
          <p:nvSpPr>
            <p:cNvPr id="33" name="2"/>
            <p:cNvSpPr/>
            <p:nvPr/>
          </p:nvSpPr>
          <p:spPr>
            <a:xfrm>
              <a:off x="8321040" y="3447288"/>
              <a:ext cx="0" cy="274320"/>
            </a:xfrm>
            <a:prstGeom prst="line">
              <a:avLst/>
            </a:prstGeom>
            <a:noFill/>
            <a:ln w="15875">
              <a:solidFill>
                <a:schemeClr val="accent1"/>
              </a:solidFill>
              <a:prstDash val="dash"/>
            </a:ln>
          </p:spPr>
        </p:sp>
        <p:sp>
          <p:nvSpPr>
            <p:cNvPr id="34" name="3"/>
            <p:cNvSpPr/>
            <p:nvPr/>
          </p:nvSpPr>
          <p:spPr>
            <a:xfrm>
              <a:off x="8321040" y="3447288"/>
              <a:ext cx="320040" cy="0"/>
            </a:xfrm>
            <a:prstGeom prst="line">
              <a:avLst/>
            </a:prstGeom>
            <a:noFill/>
            <a:ln w="15875">
              <a:solidFill>
                <a:schemeClr val="accent1"/>
              </a:solidFill>
              <a:prstDash val="dash"/>
              <a:tailEnd type="triangle"/>
            </a:ln>
          </p:spPr>
        </p:sp>
        <p:sp>
          <p:nvSpPr>
            <p:cNvPr id="35" name="label"/>
            <p:cNvSpPr txBox="1"/>
            <p:nvPr/>
          </p:nvSpPr>
          <p:spPr>
            <a:xfrm>
              <a:off x="7040880" y="3785616"/>
              <a:ext cx="960120" cy="420624"/>
            </a:xfrm>
            <a:prstGeom prst="rect">
              <a:avLst/>
            </a:prstGeom>
            <a:noFill/>
            <a:ln/>
          </p:spPr>
          <p:txBody>
            <a:bodyPr wrap="square" lIns="0" tIns="0" rIns="0" bIns="0" rtlCol="0" anchor="ctr"/>
            <a:lstStyle/>
            <a:p>
              <a:pPr indent="0" marL="0">
                <a:buNone/>
              </a:pPr>
              <a:r>
                <a:rPr lang="en-US" sz="1000" dirty="0">
                  <a:solidFill>
                    <a:schemeClr val="accent1"/>
                  </a:solidFill>
                  <a:latin typeface="Consolas" pitchFamily="34" charset="0"/>
                  <a:ea typeface="Consolas" pitchFamily="34" charset="-122"/>
                  <a:cs typeface="Consolas" pitchFamily="34" charset="-120"/>
                </a:rPr>
                <a:t>MATCHED</a:t>
              </a:r>
              <a:endParaRPr lang="en-US" sz="1000" dirty="0"/>
            </a:p>
            <a:p>
              <a:pPr indent="0" marL="0">
                <a:buNone/>
              </a:pPr>
              <a:r>
                <a:rPr lang="en-US" sz="1000" dirty="0">
                  <a:solidFill>
                    <a:schemeClr val="accent1"/>
                  </a:solidFill>
                  <a:latin typeface="Consolas" pitchFamily="34" charset="0"/>
                  <a:ea typeface="Consolas" pitchFamily="34" charset="-122"/>
                  <a:cs typeface="Consolas" pitchFamily="34" charset="-120"/>
                </a:rPr>
                <a:t>BY HAND</a:t>
              </a:r>
              <a:endParaRPr lang="en-US" sz="1000" dirty="0"/>
            </a:p>
          </p:txBody>
        </p:sp>
      </p:grpSp>
      <p:grpSp>
        <p:nvGrpSpPr>
          <p:cNvPr id="49" name="s2_chain"/>
          <p:cNvGrpSpPr/>
          <p:nvPr/>
        </p:nvGrpSpPr>
        <p:grpSpPr>
          <a:xfrm>
            <a:off x="5349240" y="4709160"/>
            <a:ext cx="5788152" cy="704088"/>
            <a:chOff x="5349240" y="4709160"/>
            <a:chExt cx="5788152" cy="704088"/>
          </a:xfrm>
        </p:grpSpPr>
        <p:sp>
          <p:nvSpPr>
            <p:cNvPr id="36" name="label"/>
            <p:cNvSpPr txBox="1"/>
            <p:nvPr/>
          </p:nvSpPr>
          <p:spPr>
            <a:xfrm>
              <a:off x="5349240" y="4709160"/>
              <a:ext cx="4572000" cy="237744"/>
            </a:xfrm>
            <a:prstGeom prst="rect">
              <a:avLst/>
            </a:prstGeom>
            <a:noFill/>
            <a:ln/>
          </p:spPr>
          <p:txBody>
            <a:bodyPr wrap="square" lIns="0" tIns="0" rIns="0" bIns="0" rtlCol="0" anchor="ctr"/>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THEN RETYPED, BY HAND, INTO</a:t>
              </a:r>
              <a:endParaRPr lang="en-US" sz="1000" dirty="0"/>
            </a:p>
          </p:txBody>
        </p:sp>
        <p:sp>
          <p:nvSpPr>
            <p:cNvPr id="37" name="c0"/>
            <p:cNvSpPr txBox="1"/>
            <p:nvPr/>
          </p:nvSpPr>
          <p:spPr>
            <a:xfrm>
              <a:off x="5349240" y="5029200"/>
              <a:ext cx="731520" cy="384048"/>
            </a:xfrm>
            <a:prstGeom prst="rect">
              <a:avLst/>
            </a:prstGeom>
            <a:noFill/>
            <a:ln w="12700">
              <a:solidFill>
                <a:schemeClr val="accent6"/>
              </a:solidFill>
            </a:ln>
          </p:spPr>
          <p:txBody>
            <a:bodyPr wrap="square" lIns="0" tIns="0" rIns="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RFQ</a:t>
              </a:r>
              <a:endParaRPr lang="en-US" sz="1000" dirty="0"/>
            </a:p>
          </p:txBody>
        </p:sp>
        <p:sp>
          <p:nvSpPr>
            <p:cNvPr id="38" name="a0"/>
            <p:cNvSpPr/>
            <p:nvPr/>
          </p:nvSpPr>
          <p:spPr>
            <a:xfrm>
              <a:off x="6135624" y="5221224"/>
              <a:ext cx="219456" cy="0"/>
            </a:xfrm>
            <a:prstGeom prst="line">
              <a:avLst/>
            </a:prstGeom>
            <a:noFill/>
            <a:ln w="12700">
              <a:solidFill>
                <a:schemeClr val="accent5"/>
              </a:solidFill>
              <a:prstDash val="solid"/>
              <a:tailEnd type="triangle"/>
            </a:ln>
          </p:spPr>
        </p:sp>
        <p:sp>
          <p:nvSpPr>
            <p:cNvPr id="39" name="c1"/>
            <p:cNvSpPr txBox="1"/>
            <p:nvPr/>
          </p:nvSpPr>
          <p:spPr>
            <a:xfrm>
              <a:off x="6409944" y="5029200"/>
              <a:ext cx="1463040" cy="384048"/>
            </a:xfrm>
            <a:prstGeom prst="rect">
              <a:avLst/>
            </a:prstGeom>
            <a:noFill/>
            <a:ln w="12700">
              <a:solidFill>
                <a:schemeClr val="accent6"/>
              </a:solidFill>
            </a:ln>
          </p:spPr>
          <p:txBody>
            <a:bodyPr wrap="square" lIns="0" tIns="0" rIns="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BID COMPARISON</a:t>
              </a:r>
              <a:endParaRPr lang="en-US" sz="1000" dirty="0"/>
            </a:p>
          </p:txBody>
        </p:sp>
        <p:sp>
          <p:nvSpPr>
            <p:cNvPr id="40" name="a1"/>
            <p:cNvSpPr/>
            <p:nvPr/>
          </p:nvSpPr>
          <p:spPr>
            <a:xfrm>
              <a:off x="7927848" y="5221224"/>
              <a:ext cx="219456" cy="0"/>
            </a:xfrm>
            <a:prstGeom prst="line">
              <a:avLst/>
            </a:prstGeom>
            <a:noFill/>
            <a:ln w="12700">
              <a:solidFill>
                <a:schemeClr val="accent5"/>
              </a:solidFill>
              <a:prstDash val="solid"/>
              <a:tailEnd type="triangle"/>
            </a:ln>
          </p:spPr>
        </p:sp>
        <p:sp>
          <p:nvSpPr>
            <p:cNvPr id="41" name="c2"/>
            <p:cNvSpPr txBox="1"/>
            <p:nvPr/>
          </p:nvSpPr>
          <p:spPr>
            <a:xfrm>
              <a:off x="8202168" y="5029200"/>
              <a:ext cx="1143000" cy="384048"/>
            </a:xfrm>
            <a:prstGeom prst="rect">
              <a:avLst/>
            </a:prstGeom>
            <a:noFill/>
            <a:ln w="12700">
              <a:solidFill>
                <a:schemeClr val="accent6"/>
              </a:solidFill>
            </a:ln>
          </p:spPr>
          <p:txBody>
            <a:bodyPr wrap="square" lIns="0" tIns="0" rIns="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PROPOSAL</a:t>
              </a:r>
              <a:endParaRPr lang="en-US" sz="1000" dirty="0"/>
            </a:p>
          </p:txBody>
        </p:sp>
        <p:sp>
          <p:nvSpPr>
            <p:cNvPr id="42" name="a2"/>
            <p:cNvSpPr/>
            <p:nvPr/>
          </p:nvSpPr>
          <p:spPr>
            <a:xfrm>
              <a:off x="9400032" y="5221224"/>
              <a:ext cx="219456" cy="0"/>
            </a:xfrm>
            <a:prstGeom prst="line">
              <a:avLst/>
            </a:prstGeom>
            <a:noFill/>
            <a:ln w="12700">
              <a:solidFill>
                <a:schemeClr val="accent5"/>
              </a:solidFill>
              <a:prstDash val="solid"/>
              <a:tailEnd type="triangle"/>
            </a:ln>
          </p:spPr>
        </p:sp>
        <p:sp>
          <p:nvSpPr>
            <p:cNvPr id="43" name="c3"/>
            <p:cNvSpPr txBox="1"/>
            <p:nvPr/>
          </p:nvSpPr>
          <p:spPr>
            <a:xfrm>
              <a:off x="9674352" y="5029200"/>
              <a:ext cx="1463040" cy="384048"/>
            </a:xfrm>
            <a:prstGeom prst="rect">
              <a:avLst/>
            </a:prstGeom>
            <a:noFill/>
            <a:ln w="12700">
              <a:solidFill>
                <a:schemeClr val="accent6"/>
              </a:solidFill>
            </a:ln>
          </p:spPr>
          <p:txBody>
            <a:bodyPr wrap="square" lIns="0" tIns="0" rIns="0" bIns="0" rtlCol="0" anchor="ctr"/>
            <a:lstStyle/>
            <a:p>
              <a:pPr algn="ctr" indent="0" marL="0">
                <a:buNone/>
              </a:pPr>
              <a:r>
                <a:rPr lang="en-US" sz="1000" dirty="0">
                  <a:solidFill>
                    <a:schemeClr val="tx1"/>
                  </a:solidFill>
                  <a:latin typeface="Consolas" pitchFamily="34" charset="0"/>
                  <a:ea typeface="Consolas" pitchFamily="34" charset="-122"/>
                  <a:cs typeface="Consolas" pitchFamily="34" charset="-120"/>
                </a:rPr>
                <a:t>PURCHASE ORDER</a:t>
              </a:r>
              <a:endParaRPr lang="en-US" sz="1000" dirty="0"/>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600"/>
                                        <p:tgtEl>
                                          <p:spTgt spid="44"/>
                                        </p:tgtEl>
                                      </p:cBhvr>
                                    </p:animEffect>
                                    <p:anim calcmode="lin" valueType="num">
                                      <p:cBhvr>
                                        <p:cTn id="13" dur="600" decel="100000" fill="hold"/>
                                        <p:tgtEl>
                                          <p:spTgt spid="44"/>
                                        </p:tgtEl>
                                        <p:attrNameLst>
                                          <p:attrName>ppt_x</p:attrName>
                                        </p:attrNameLst>
                                      </p:cBhvr>
                                      <p:tavLst>
                                        <p:tav tm="0">
                                          <p:val>
                                            <p:strVal val="#ppt_x"/>
                                          </p:val>
                                        </p:tav>
                                        <p:tav tm="100000">
                                          <p:val>
                                            <p:strVal val="#ppt_x"/>
                                          </p:val>
                                        </p:tav>
                                      </p:tavLst>
                                    </p:anim>
                                    <p:anim calcmode="lin" valueType="num">
                                      <p:cBhvr>
                                        <p:cTn id="14" dur="600" decel="100000" fill="hold"/>
                                        <p:tgtEl>
                                          <p:spTgt spid="44"/>
                                        </p:tgtEl>
                                        <p:attrNameLst>
                                          <p:attrName>ppt_y</p:attrName>
                                        </p:attrNameLst>
                                      </p:cBhvr>
                                      <p:tavLst>
                                        <p:tav tm="0">
                                          <p:val>
                                            <p:strVal val="#ppt_y+.025"/>
                                          </p:val>
                                        </p:tav>
                                        <p:tav tm="100000">
                                          <p:val>
                                            <p:strVal val="#ppt_y"/>
                                          </p:val>
                                        </p:tav>
                                      </p:tavLst>
                                    </p:anim>
                                  </p:childTnLst>
                                </p:cTn>
                              </p:par>
                              <p:par>
                                <p:cTn id="15" presetID="42" presetClass="entr" presetSubtype="0" fill="hold" grpId="0" nodeType="withEffect">
                                  <p:stCondLst>
                                    <p:cond delay="30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600"/>
                                        <p:tgtEl>
                                          <p:spTgt spid="47"/>
                                        </p:tgtEl>
                                      </p:cBhvr>
                                    </p:animEffect>
                                    <p:anim calcmode="lin" valueType="num">
                                      <p:cBhvr>
                                        <p:cTn id="18" dur="600" decel="100000" fill="hold"/>
                                        <p:tgtEl>
                                          <p:spTgt spid="47"/>
                                        </p:tgtEl>
                                        <p:attrNameLst>
                                          <p:attrName>ppt_x</p:attrName>
                                        </p:attrNameLst>
                                      </p:cBhvr>
                                      <p:tavLst>
                                        <p:tav tm="0">
                                          <p:val>
                                            <p:strVal val="#ppt_x"/>
                                          </p:val>
                                        </p:tav>
                                        <p:tav tm="100000">
                                          <p:val>
                                            <p:strVal val="#ppt_x"/>
                                          </p:val>
                                        </p:tav>
                                      </p:tavLst>
                                    </p:anim>
                                    <p:anim calcmode="lin" valueType="num">
                                      <p:cBhvr>
                                        <p:cTn id="19" dur="600" decel="100000" fill="hold"/>
                                        <p:tgtEl>
                                          <p:spTgt spid="47"/>
                                        </p:tgtEl>
                                        <p:attrNameLst>
                                          <p:attrName>ppt_y</p:attrName>
                                        </p:attrNameLst>
                                      </p:cBhvr>
                                      <p:tavLst>
                                        <p:tav tm="0">
                                          <p:val>
                                            <p:strVal val="#ppt_y+.025"/>
                                          </p:val>
                                        </p:tav>
                                        <p:tav tm="100000">
                                          <p:val>
                                            <p:strVal val="#ppt_y"/>
                                          </p:val>
                                        </p:tav>
                                      </p:tavLst>
                                    </p:anim>
                                  </p:childTnLst>
                                </p:cTn>
                              </p:par>
                              <p:par>
                                <p:cTn id="20" presetID="42" presetClass="entr" presetSubtype="0" fill="hold" grpId="0" nodeType="withEffect">
                                  <p:stCondLst>
                                    <p:cond delay="34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600"/>
                                        <p:tgtEl>
                                          <p:spTgt spid="45"/>
                                        </p:tgtEl>
                                      </p:cBhvr>
                                    </p:animEffect>
                                    <p:anim calcmode="lin" valueType="num">
                                      <p:cBhvr>
                                        <p:cTn id="23" dur="600" decel="100000" fill="hold"/>
                                        <p:tgtEl>
                                          <p:spTgt spid="45"/>
                                        </p:tgtEl>
                                        <p:attrNameLst>
                                          <p:attrName>ppt_x</p:attrName>
                                        </p:attrNameLst>
                                      </p:cBhvr>
                                      <p:tavLst>
                                        <p:tav tm="0">
                                          <p:val>
                                            <p:strVal val="#ppt_x"/>
                                          </p:val>
                                        </p:tav>
                                        <p:tav tm="100000">
                                          <p:val>
                                            <p:strVal val="#ppt_x"/>
                                          </p:val>
                                        </p:tav>
                                      </p:tavLst>
                                    </p:anim>
                                    <p:anim calcmode="lin" valueType="num">
                                      <p:cBhvr>
                                        <p:cTn id="24" dur="600" decel="100000" fill="hold"/>
                                        <p:tgtEl>
                                          <p:spTgt spid="45"/>
                                        </p:tgtEl>
                                        <p:attrNameLst>
                                          <p:attrName>ppt_y</p:attrName>
                                        </p:attrNameLst>
                                      </p:cBhvr>
                                      <p:tavLst>
                                        <p:tav tm="0">
                                          <p:val>
                                            <p:strVal val="#ppt_y+.025"/>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600"/>
                                        <p:tgtEl>
                                          <p:spTgt spid="46"/>
                                        </p:tgtEl>
                                      </p:cBhvr>
                                    </p:animEffect>
                                    <p:anim calcmode="lin" valueType="num">
                                      <p:cBhvr>
                                        <p:cTn id="28" dur="600" decel="100000" fill="hold"/>
                                        <p:tgtEl>
                                          <p:spTgt spid="46"/>
                                        </p:tgtEl>
                                        <p:attrNameLst>
                                          <p:attrName>ppt_x</p:attrName>
                                        </p:attrNameLst>
                                      </p:cBhvr>
                                      <p:tavLst>
                                        <p:tav tm="0">
                                          <p:val>
                                            <p:strVal val="#ppt_x"/>
                                          </p:val>
                                        </p:tav>
                                        <p:tav tm="100000">
                                          <p:val>
                                            <p:strVal val="#ppt_x"/>
                                          </p:val>
                                        </p:tav>
                                      </p:tavLst>
                                    </p:anim>
                                    <p:anim calcmode="lin" valueType="num">
                                      <p:cBhvr>
                                        <p:cTn id="29" dur="600" decel="100000" fill="hold"/>
                                        <p:tgtEl>
                                          <p:spTgt spid="46"/>
                                        </p:tgtEl>
                                        <p:attrNameLst>
                                          <p:attrName>ppt_y</p:attrName>
                                        </p:attrNameLst>
                                      </p:cBhvr>
                                      <p:tavLst>
                                        <p:tav tm="0">
                                          <p:val>
                                            <p:strVal val="#ppt_y+.025"/>
                                          </p:val>
                                        </p:tav>
                                        <p:tav tm="100000">
                                          <p:val>
                                            <p:strVal val="#ppt_y"/>
                                          </p:val>
                                        </p:tav>
                                      </p:tavLst>
                                    </p:anim>
                                  </p:childTnLst>
                                </p:cTn>
                              </p:par>
                              <p:par>
                                <p:cTn id="30" presetID="10" presetClass="entr" presetSubtype="0" fill="hold" grpId="0" nodeType="withEffect">
                                  <p:stCondLst>
                                    <p:cond delay="64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par>
                                <p:cTn id="33" presetID="42" presetClass="entr" presetSubtype="0" fill="hold" grpId="0" nodeType="withEffect">
                                  <p:stCondLst>
                                    <p:cond delay="740"/>
                                  </p:stCondLst>
                                  <p:childTnLst>
                                    <p:set>
                                      <p:cBhvr>
                                        <p:cTn id="34" dur="1" fill="hold">
                                          <p:stCondLst>
                                            <p:cond delay="0"/>
                                          </p:stCondLst>
                                        </p:cTn>
                                        <p:tgtEl>
                                          <p:spTgt spid="49"/>
                                        </p:tgtEl>
                                        <p:attrNameLst>
                                          <p:attrName>style.visibility</p:attrName>
                                        </p:attrNameLst>
                                      </p:cBhvr>
                                      <p:to>
                                        <p:strVal val="visible"/>
                                      </p:to>
                                    </p:set>
                                    <p:animEffect transition="in" filter="fade">
                                      <p:cBhvr>
                                        <p:cTn id="35" dur="600"/>
                                        <p:tgtEl>
                                          <p:spTgt spid="49"/>
                                        </p:tgtEl>
                                      </p:cBhvr>
                                    </p:animEffect>
                                    <p:anim calcmode="lin" valueType="num">
                                      <p:cBhvr>
                                        <p:cTn id="36" dur="600" decel="100000" fill="hold"/>
                                        <p:tgtEl>
                                          <p:spTgt spid="49"/>
                                        </p:tgtEl>
                                        <p:attrNameLst>
                                          <p:attrName>ppt_x</p:attrName>
                                        </p:attrNameLst>
                                      </p:cBhvr>
                                      <p:tavLst>
                                        <p:tav tm="0">
                                          <p:val>
                                            <p:strVal val="#ppt_x"/>
                                          </p:val>
                                        </p:tav>
                                        <p:tav tm="100000">
                                          <p:val>
                                            <p:strVal val="#ppt_x"/>
                                          </p:val>
                                        </p:tav>
                                      </p:tavLst>
                                    </p:anim>
                                    <p:anim calcmode="lin" valueType="num">
                                      <p:cBhvr>
                                        <p:cTn id="37" dur="600" decel="100000" fill="hold"/>
                                        <p:tgtEl>
                                          <p:spTgt spid="49"/>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ursor"/>
          <p:cNvSpPr/>
          <p:nvPr/>
        </p:nvSpPr>
        <p:spPr>
          <a:xfrm rot="5400000">
            <a:off x="182880" y="2577302"/>
            <a:ext cx="164592" cy="146304"/>
          </a:xfrm>
          <a:prstGeom prst="triangle">
            <a:avLst/>
          </a:prstGeom>
          <a:solidFill>
            <a:schemeClr val="accent1"/>
          </a:solidFill>
          <a:ln/>
        </p:spPr>
      </p:sp>
      <p:sp>
        <p:nvSpPr>
          <p:cNvPr id="3" name="!!cursorTick"/>
          <p:cNvSpPr/>
          <p:nvPr/>
        </p:nvSpPr>
        <p:spPr>
          <a:xfrm>
            <a:off x="411480" y="2650454"/>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03 / 07</a:t>
            </a:r>
            <a:endParaRPr lang="en-US" sz="1000" dirty="0"/>
          </a:p>
        </p:txBody>
      </p:sp>
      <p:sp>
        <p:nvSpPr>
          <p:cNvPr id="5" name="s3_eyebrow"/>
          <p:cNvSpPr txBox="1"/>
          <p:nvPr/>
        </p:nvSpPr>
        <p:spPr>
          <a:xfrm>
            <a:off x="868680" y="914400"/>
            <a:ext cx="54864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02 / THE IDEA</a:t>
            </a:r>
            <a:endParaRPr lang="en-US" sz="1050" dirty="0"/>
          </a:p>
        </p:txBody>
      </p:sp>
      <p:sp>
        <p:nvSpPr>
          <p:cNvPr id="6" name="!!title"/>
          <p:cNvSpPr/>
          <p:nvPr>
            <p:ph idx="103" type="title" hasCustomPrompt="1"/>
          </p:nvPr>
        </p:nvSpPr>
        <p:spPr>
          <a:xfrm>
            <a:off x="868680" y="1188720"/>
            <a:ext cx="10424160" cy="731520"/>
          </a:xfrm>
          <a:prstGeom prst="rect">
            <a:avLst/>
          </a:prstGeom>
          <a:noFill/>
          <a:ln/>
        </p:spPr>
        <p:txBody>
          <a:bodyPr wrap="square" lIns="0" tIns="0" rIns="0" bIns="0" rtlCol="0" anchor="t"/>
          <a:lstStyle/>
          <a:p>
            <a:pPr algn="l" indent="0" marL="0">
              <a:lnSpc>
                <a:spcPct val="88000"/>
              </a:lnSpc>
              <a:buNone/>
            </a:pPr>
            <a:r>
              <a:rPr lang="en-US" sz="4000" b="1" dirty="0">
                <a:solidFill>
                  <a:schemeClr val="tx1"/>
                </a:solidFill>
                <a:latin typeface="Arial Narrow" pitchFamily="34" charset="0"/>
                <a:ea typeface="Arial Narrow" pitchFamily="34" charset="-122"/>
                <a:cs typeface="Arial Narrow" pitchFamily="34" charset="-120"/>
              </a:rPr>
              <a:t>READ ONCE. CONFIRM. CARRY IT THROUGH.</a:t>
            </a:r>
            <a:endParaRPr lang="en-US" sz="4000" dirty="0"/>
          </a:p>
        </p:txBody>
      </p:sp>
      <p:grpSp>
        <p:nvGrpSpPr>
          <p:cNvPr id="36" name="s3_c1"/>
          <p:cNvGrpSpPr/>
          <p:nvPr/>
        </p:nvGrpSpPr>
        <p:grpSpPr>
          <a:xfrm>
            <a:off x="868680" y="2194560"/>
            <a:ext cx="3200400" cy="2606040"/>
            <a:chOff x="868680" y="2194560"/>
            <a:chExt cx="3200400" cy="2606040"/>
          </a:xfrm>
        </p:grpSpPr>
        <p:sp>
          <p:nvSpPr>
            <p:cNvPr id="7" name="card"/>
            <p:cNvSpPr/>
            <p:nvPr/>
          </p:nvSpPr>
          <p:spPr>
            <a:xfrm>
              <a:off x="868680" y="2194560"/>
              <a:ext cx="3200400" cy="2606040"/>
            </a:xfrm>
            <a:prstGeom prst="rect">
              <a:avLst/>
            </a:prstGeom>
            <a:solidFill>
              <a:schemeClr val="bg2"/>
            </a:solidFill>
            <a:ln w="12700">
              <a:solidFill>
                <a:schemeClr val="accent5"/>
              </a:solidFill>
              <a:prstDash val="solid"/>
            </a:ln>
          </p:spPr>
        </p:sp>
        <p:sp>
          <p:nvSpPr>
            <p:cNvPr id="8" name="num"/>
            <p:cNvSpPr txBox="1"/>
            <p:nvPr/>
          </p:nvSpPr>
          <p:spPr>
            <a:xfrm>
              <a:off x="1097280" y="2423160"/>
              <a:ext cx="548640" cy="274320"/>
            </a:xfrm>
            <a:prstGeom prst="rect">
              <a:avLst/>
            </a:prstGeom>
            <a:noFill/>
            <a:ln/>
          </p:spPr>
          <p:txBody>
            <a:bodyPr wrap="square" lIns="0" tIns="0" rIns="0" bIns="0" rtlCol="0" anchor="ctr"/>
            <a:lstStyle/>
            <a:p>
              <a:pPr indent="0" marL="0">
                <a:buNone/>
              </a:pPr>
              <a:r>
                <a:rPr lang="en-US" sz="1050" dirty="0">
                  <a:solidFill>
                    <a:schemeClr val="accent1"/>
                  </a:solidFill>
                  <a:latin typeface="Consolas" pitchFamily="34" charset="0"/>
                  <a:ea typeface="Consolas" pitchFamily="34" charset="-122"/>
                  <a:cs typeface="Consolas" pitchFamily="34" charset="-120"/>
                </a:rPr>
                <a:t>01</a:t>
              </a:r>
              <a:endParaRPr lang="en-US" sz="1050" dirty="0"/>
            </a:p>
          </p:txBody>
        </p:sp>
        <p:sp>
          <p:nvSpPr>
            <p:cNvPr id="9" name="chip"/>
            <p:cNvSpPr txBox="1"/>
            <p:nvPr/>
          </p:nvSpPr>
          <p:spPr>
            <a:xfrm>
              <a:off x="1965960" y="2423160"/>
              <a:ext cx="1874520" cy="274320"/>
            </a:xfrm>
            <a:prstGeom prst="rect">
              <a:avLst/>
            </a:prstGeom>
            <a:noFill/>
            <a:ln w="12700">
              <a:solidFill>
                <a:schemeClr val="accent2"/>
              </a:solidFill>
            </a:ln>
          </p:spPr>
          <p:txBody>
            <a:bodyPr wrap="square" lIns="0" tIns="0" rIns="0" bIns="0" rtlCol="0" anchor="ctr"/>
            <a:lstStyle/>
            <a:p>
              <a:pPr algn="ctr" indent="0" marL="0">
                <a:buNone/>
              </a:pPr>
              <a:r>
                <a:rPr lang="en-US" sz="1000" dirty="0">
                  <a:solidFill>
                    <a:schemeClr val="accent2"/>
                  </a:solidFill>
                  <a:latin typeface="Consolas" pitchFamily="34" charset="0"/>
                  <a:ea typeface="Consolas" pitchFamily="34" charset="-122"/>
                  <a:cs typeface="Consolas" pitchFamily="34" charset="-120"/>
                </a:rPr>
                <a:t>LIVE · REAL READING</a:t>
              </a:r>
              <a:endParaRPr lang="en-US" sz="1000" dirty="0"/>
            </a:p>
          </p:txBody>
        </p:sp>
        <p:sp>
          <p:nvSpPr>
            <p:cNvPr id="10" name="name"/>
            <p:cNvSpPr txBox="1"/>
            <p:nvPr/>
          </p:nvSpPr>
          <p:spPr>
            <a:xfrm>
              <a:off x="1097280" y="2852928"/>
              <a:ext cx="2743200" cy="594360"/>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REVIEW</a:t>
              </a:r>
              <a:endParaRPr lang="en-US" sz="4000" dirty="0"/>
            </a:p>
          </p:txBody>
        </p:sp>
        <p:sp>
          <p:nvSpPr>
            <p:cNvPr id="11" name="sent"/>
            <p:cNvSpPr txBox="1"/>
            <p:nvPr/>
          </p:nvSpPr>
          <p:spPr>
            <a:xfrm>
              <a:off x="1097280" y="3493008"/>
              <a:ext cx="2743200" cy="4572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The drawing becomes data.</a:t>
              </a:r>
              <a:endParaRPr lang="en-US" sz="1500" dirty="0"/>
            </a:p>
          </p:txBody>
        </p:sp>
        <p:sp>
          <p:nvSpPr>
            <p:cNvPr id="12" name="steps"/>
            <p:cNvSpPr txBox="1"/>
            <p:nvPr/>
          </p:nvSpPr>
          <p:spPr>
            <a:xfrm>
              <a:off x="1097280" y="4005072"/>
              <a:ext cx="2743200" cy="256032"/>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UPLOAD → EXTRACT → REVIEW</a:t>
              </a:r>
              <a:endParaRPr lang="en-US" sz="1000" dirty="0"/>
            </a:p>
          </p:txBody>
        </p:sp>
        <p:sp>
          <p:nvSpPr>
            <p:cNvPr id="13" name="who"/>
            <p:cNvSpPr txBox="1"/>
            <p:nvPr/>
          </p:nvSpPr>
          <p:spPr>
            <a:xfrm>
              <a:off x="1097280" y="4297680"/>
              <a:ext cx="2743200" cy="256032"/>
            </a:xfrm>
            <a:prstGeom prst="rect">
              <a:avLst/>
            </a:prstGeom>
            <a:noFill/>
            <a:ln/>
          </p:spPr>
          <p:txBody>
            <a:bodyPr wrap="square" lIns="0" tIns="0" rIns="0" bIns="0" rtlCol="0" anchor="ctr"/>
            <a:lstStyle/>
            <a:p>
              <a:pPr indent="0" marL="0">
                <a:buNone/>
              </a:pPr>
              <a:r>
                <a:rPr lang="en-US" sz="1000" dirty="0">
                  <a:solidFill>
                    <a:schemeClr val="accent2"/>
                  </a:solidFill>
                  <a:latin typeface="Consolas" pitchFamily="34" charset="0"/>
                  <a:ea typeface="Consolas" pitchFamily="34" charset="-122"/>
                  <a:cs typeface="Consolas" pitchFamily="34" charset="-120"/>
                </a:rPr>
                <a:t>DEALER VERIFIES</a:t>
              </a:r>
              <a:endParaRPr lang="en-US" sz="1000" dirty="0"/>
            </a:p>
          </p:txBody>
        </p:sp>
      </p:grpSp>
      <p:sp>
        <p:nvSpPr>
          <p:cNvPr id="14" name="s3_a1"/>
          <p:cNvSpPr/>
          <p:nvPr/>
        </p:nvSpPr>
        <p:spPr>
          <a:xfrm>
            <a:off x="4133088" y="3154680"/>
            <a:ext cx="283464" cy="0"/>
          </a:xfrm>
          <a:prstGeom prst="line">
            <a:avLst/>
          </a:prstGeom>
          <a:noFill/>
          <a:ln w="15875">
            <a:solidFill>
              <a:schemeClr val="accent5"/>
            </a:solidFill>
            <a:prstDash val="solid"/>
            <a:tailEnd type="triangle"/>
          </a:ln>
        </p:spPr>
      </p:sp>
      <p:grpSp>
        <p:nvGrpSpPr>
          <p:cNvPr id="37" name="s3_c2"/>
          <p:cNvGrpSpPr/>
          <p:nvPr/>
        </p:nvGrpSpPr>
        <p:grpSpPr>
          <a:xfrm>
            <a:off x="4480560" y="2194560"/>
            <a:ext cx="3200400" cy="2606040"/>
            <a:chOff x="4480560" y="2194560"/>
            <a:chExt cx="3200400" cy="2606040"/>
          </a:xfrm>
        </p:grpSpPr>
        <p:sp>
          <p:nvSpPr>
            <p:cNvPr id="15" name="card"/>
            <p:cNvSpPr/>
            <p:nvPr/>
          </p:nvSpPr>
          <p:spPr>
            <a:xfrm>
              <a:off x="4480560" y="2194560"/>
              <a:ext cx="3200400" cy="2606040"/>
            </a:xfrm>
            <a:prstGeom prst="rect">
              <a:avLst/>
            </a:prstGeom>
            <a:solidFill>
              <a:schemeClr val="bg2"/>
            </a:solidFill>
            <a:ln w="12700">
              <a:solidFill>
                <a:schemeClr val="accent6"/>
              </a:solidFill>
              <a:prstDash val="solid"/>
            </a:ln>
          </p:spPr>
        </p:sp>
        <p:sp>
          <p:nvSpPr>
            <p:cNvPr id="16" name="num"/>
            <p:cNvSpPr txBox="1"/>
            <p:nvPr/>
          </p:nvSpPr>
          <p:spPr>
            <a:xfrm>
              <a:off x="4709160" y="2423160"/>
              <a:ext cx="548640" cy="274320"/>
            </a:xfrm>
            <a:prstGeom prst="rect">
              <a:avLst/>
            </a:prstGeom>
            <a:noFill/>
            <a:ln/>
          </p:spPr>
          <p:txBody>
            <a:bodyPr wrap="square" lIns="0" tIns="0" rIns="0" bIns="0" rtlCol="0" anchor="ctr"/>
            <a:lstStyle/>
            <a:p>
              <a:pPr indent="0" marL="0">
                <a:buNone/>
              </a:pPr>
              <a:r>
                <a:rPr lang="en-US" sz="1050" dirty="0">
                  <a:solidFill>
                    <a:schemeClr val="accent1"/>
                  </a:solidFill>
                  <a:latin typeface="Consolas" pitchFamily="34" charset="0"/>
                  <a:ea typeface="Consolas" pitchFamily="34" charset="-122"/>
                  <a:cs typeface="Consolas" pitchFamily="34" charset="-120"/>
                </a:rPr>
                <a:t>02</a:t>
              </a:r>
              <a:endParaRPr lang="en-US" sz="1050" dirty="0"/>
            </a:p>
          </p:txBody>
        </p:sp>
        <p:sp>
          <p:nvSpPr>
            <p:cNvPr id="17" name="chip"/>
            <p:cNvSpPr txBox="1"/>
            <p:nvPr/>
          </p:nvSpPr>
          <p:spPr>
            <a:xfrm>
              <a:off x="5577840" y="2423160"/>
              <a:ext cx="1874520" cy="274320"/>
            </a:xfrm>
            <a:prstGeom prst="rect">
              <a:avLst/>
            </a:prstGeom>
            <a:noFill/>
            <a:ln w="12700">
              <a:solidFill>
                <a:schemeClr val="accent6"/>
              </a:solid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PREVIEW · SAMPLE BIDS</a:t>
              </a:r>
              <a:endParaRPr lang="en-US" sz="1000" dirty="0"/>
            </a:p>
          </p:txBody>
        </p:sp>
        <p:sp>
          <p:nvSpPr>
            <p:cNvPr id="18" name="name"/>
            <p:cNvSpPr txBox="1"/>
            <p:nvPr/>
          </p:nvSpPr>
          <p:spPr>
            <a:xfrm>
              <a:off x="4709160" y="2852928"/>
              <a:ext cx="2743200" cy="594360"/>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PROCURE</a:t>
              </a:r>
              <a:endParaRPr lang="en-US" sz="4000" dirty="0"/>
            </a:p>
          </p:txBody>
        </p:sp>
        <p:sp>
          <p:nvSpPr>
            <p:cNvPr id="19" name="sent"/>
            <p:cNvSpPr txBox="1"/>
            <p:nvPr/>
          </p:nvSpPr>
          <p:spPr>
            <a:xfrm>
              <a:off x="4709160" y="3493008"/>
              <a:ext cx="2743200" cy="4572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The data becomes a priced deal.</a:t>
              </a:r>
              <a:endParaRPr lang="en-US" sz="1500" dirty="0"/>
            </a:p>
          </p:txBody>
        </p:sp>
        <p:sp>
          <p:nvSpPr>
            <p:cNvPr id="20" name="steps"/>
            <p:cNvSpPr txBox="1"/>
            <p:nvPr/>
          </p:nvSpPr>
          <p:spPr>
            <a:xfrm>
              <a:off x="4709160" y="4005072"/>
              <a:ext cx="2743200" cy="256032"/>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RFQ → BIDS → PROPOSAL</a:t>
              </a:r>
              <a:endParaRPr lang="en-US" sz="1000" dirty="0"/>
            </a:p>
          </p:txBody>
        </p:sp>
        <p:sp>
          <p:nvSpPr>
            <p:cNvPr id="21" name="who"/>
            <p:cNvSpPr txBox="1"/>
            <p:nvPr/>
          </p:nvSpPr>
          <p:spPr>
            <a:xfrm>
              <a:off x="4709160" y="4297680"/>
              <a:ext cx="2743200" cy="256032"/>
            </a:xfrm>
            <a:prstGeom prst="rect">
              <a:avLst/>
            </a:prstGeom>
            <a:noFill/>
            <a:ln/>
          </p:spPr>
          <p:txBody>
            <a:bodyPr wrap="square" lIns="0" tIns="0" rIns="0" bIns="0" rtlCol="0" anchor="ctr"/>
            <a:lstStyle/>
            <a:p>
              <a:pPr indent="0" marL="0">
                <a:buNone/>
              </a:pPr>
              <a:r>
                <a:rPr lang="en-US" sz="1000" dirty="0">
                  <a:solidFill>
                    <a:schemeClr val="accent2"/>
                  </a:solidFill>
                  <a:latin typeface="Consolas" pitchFamily="34" charset="0"/>
                  <a:ea typeface="Consolas" pitchFamily="34" charset="-122"/>
                  <a:cs typeface="Consolas" pitchFamily="34" charset="-120"/>
                </a:rPr>
                <a:t>CUSTOMER ACCEPTS</a:t>
              </a:r>
              <a:endParaRPr lang="en-US" sz="1000" dirty="0"/>
            </a:p>
          </p:txBody>
        </p:sp>
      </p:grpSp>
      <p:sp>
        <p:nvSpPr>
          <p:cNvPr id="22" name="s3_a2"/>
          <p:cNvSpPr/>
          <p:nvPr/>
        </p:nvSpPr>
        <p:spPr>
          <a:xfrm>
            <a:off x="7744968" y="3154680"/>
            <a:ext cx="283464" cy="0"/>
          </a:xfrm>
          <a:prstGeom prst="line">
            <a:avLst/>
          </a:prstGeom>
          <a:noFill/>
          <a:ln w="15875">
            <a:solidFill>
              <a:schemeClr val="accent5"/>
            </a:solidFill>
            <a:prstDash val="solid"/>
            <a:tailEnd type="triangle"/>
          </a:ln>
        </p:spPr>
      </p:sp>
      <p:grpSp>
        <p:nvGrpSpPr>
          <p:cNvPr id="38" name="s3_c3"/>
          <p:cNvGrpSpPr/>
          <p:nvPr/>
        </p:nvGrpSpPr>
        <p:grpSpPr>
          <a:xfrm>
            <a:off x="8092440" y="2194560"/>
            <a:ext cx="3200400" cy="2606040"/>
            <a:chOff x="8092440" y="2194560"/>
            <a:chExt cx="3200400" cy="2606040"/>
          </a:xfrm>
        </p:grpSpPr>
        <p:sp>
          <p:nvSpPr>
            <p:cNvPr id="23" name="card"/>
            <p:cNvSpPr/>
            <p:nvPr/>
          </p:nvSpPr>
          <p:spPr>
            <a:xfrm>
              <a:off x="8092440" y="2194560"/>
              <a:ext cx="3200400" cy="2606040"/>
            </a:xfrm>
            <a:prstGeom prst="rect">
              <a:avLst/>
            </a:prstGeom>
            <a:solidFill>
              <a:schemeClr val="bg2"/>
            </a:solidFill>
            <a:ln w="12700">
              <a:solidFill>
                <a:schemeClr val="accent6"/>
              </a:solidFill>
              <a:prstDash val="solid"/>
            </a:ln>
          </p:spPr>
        </p:sp>
        <p:sp>
          <p:nvSpPr>
            <p:cNvPr id="24" name="num"/>
            <p:cNvSpPr txBox="1"/>
            <p:nvPr/>
          </p:nvSpPr>
          <p:spPr>
            <a:xfrm>
              <a:off x="8321040" y="2423160"/>
              <a:ext cx="548640" cy="274320"/>
            </a:xfrm>
            <a:prstGeom prst="rect">
              <a:avLst/>
            </a:prstGeom>
            <a:noFill/>
            <a:ln/>
          </p:spPr>
          <p:txBody>
            <a:bodyPr wrap="square" lIns="0" tIns="0" rIns="0" bIns="0" rtlCol="0" anchor="ctr"/>
            <a:lstStyle/>
            <a:p>
              <a:pPr indent="0" marL="0">
                <a:buNone/>
              </a:pPr>
              <a:r>
                <a:rPr lang="en-US" sz="1050" dirty="0">
                  <a:solidFill>
                    <a:schemeClr val="accent1"/>
                  </a:solidFill>
                  <a:latin typeface="Consolas" pitchFamily="34" charset="0"/>
                  <a:ea typeface="Consolas" pitchFamily="34" charset="-122"/>
                  <a:cs typeface="Consolas" pitchFamily="34" charset="-120"/>
                </a:rPr>
                <a:t>03</a:t>
              </a:r>
              <a:endParaRPr lang="en-US" sz="1050" dirty="0"/>
            </a:p>
          </p:txBody>
        </p:sp>
        <p:sp>
          <p:nvSpPr>
            <p:cNvPr id="25" name="chip"/>
            <p:cNvSpPr txBox="1"/>
            <p:nvPr/>
          </p:nvSpPr>
          <p:spPr>
            <a:xfrm>
              <a:off x="9189720" y="2423160"/>
              <a:ext cx="1874520" cy="274320"/>
            </a:xfrm>
            <a:prstGeom prst="rect">
              <a:avLst/>
            </a:prstGeom>
            <a:noFill/>
            <a:ln w="12700">
              <a:solidFill>
                <a:schemeClr val="accent6"/>
              </a:solid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PREVIEW · SAMPLE DATES</a:t>
              </a:r>
              <a:endParaRPr lang="en-US" sz="1000" dirty="0"/>
            </a:p>
          </p:txBody>
        </p:sp>
        <p:sp>
          <p:nvSpPr>
            <p:cNvPr id="26" name="name"/>
            <p:cNvSpPr txBox="1"/>
            <p:nvPr/>
          </p:nvSpPr>
          <p:spPr>
            <a:xfrm>
              <a:off x="8321040" y="2852928"/>
              <a:ext cx="2743200" cy="594360"/>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FULFILL</a:t>
              </a:r>
              <a:endParaRPr lang="en-US" sz="4000" dirty="0"/>
            </a:p>
          </p:txBody>
        </p:sp>
        <p:sp>
          <p:nvSpPr>
            <p:cNvPr id="27" name="sent"/>
            <p:cNvSpPr txBox="1"/>
            <p:nvPr/>
          </p:nvSpPr>
          <p:spPr>
            <a:xfrm>
              <a:off x="8321040" y="3493008"/>
              <a:ext cx="2743200" cy="4572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The deal becomes delivered windows.</a:t>
              </a:r>
              <a:endParaRPr lang="en-US" sz="1500" dirty="0"/>
            </a:p>
          </p:txBody>
        </p:sp>
        <p:sp>
          <p:nvSpPr>
            <p:cNvPr id="28" name="steps"/>
            <p:cNvSpPr txBox="1"/>
            <p:nvPr/>
          </p:nvSpPr>
          <p:spPr>
            <a:xfrm>
              <a:off x="8321040" y="4005072"/>
              <a:ext cx="2743200" cy="256032"/>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PO → DELIVERY → INSTALLED</a:t>
              </a:r>
              <a:endParaRPr lang="en-US" sz="1000" dirty="0"/>
            </a:p>
          </p:txBody>
        </p:sp>
        <p:sp>
          <p:nvSpPr>
            <p:cNvPr id="29" name="who"/>
            <p:cNvSpPr txBox="1"/>
            <p:nvPr/>
          </p:nvSpPr>
          <p:spPr>
            <a:xfrm>
              <a:off x="8321040" y="4297680"/>
              <a:ext cx="2743200" cy="256032"/>
            </a:xfrm>
            <a:prstGeom prst="rect">
              <a:avLst/>
            </a:prstGeom>
            <a:noFill/>
            <a:ln/>
          </p:spPr>
          <p:txBody>
            <a:bodyPr wrap="square" lIns="0" tIns="0" rIns="0" bIns="0" rtlCol="0" anchor="ctr"/>
            <a:lstStyle/>
            <a:p>
              <a:pPr indent="0" marL="0">
                <a:buNone/>
              </a:pPr>
              <a:r>
                <a:rPr lang="en-US" sz="1000" dirty="0">
                  <a:solidFill>
                    <a:schemeClr val="accent2"/>
                  </a:solidFill>
                  <a:latin typeface="Consolas" pitchFamily="34" charset="0"/>
                  <a:ea typeface="Consolas" pitchFamily="34" charset="-122"/>
                  <a:cs typeface="Consolas" pitchFamily="34" charset="-120"/>
                </a:rPr>
                <a:t>MANUFACTURER ACKNOWLEDGES</a:t>
              </a:r>
              <a:endParaRPr lang="en-US" sz="1000" dirty="0"/>
            </a:p>
          </p:txBody>
        </p:sp>
      </p:grpSp>
      <p:sp>
        <p:nvSpPr>
          <p:cNvPr id="30" name="s3_line"/>
          <p:cNvSpPr txBox="1"/>
          <p:nvPr/>
        </p:nvSpPr>
        <p:spPr>
          <a:xfrm>
            <a:off x="868680" y="5029200"/>
            <a:ext cx="10424160" cy="50292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Window 5·3 on the plan </a:t>
            </a:r>
            <a:pPr indent="0" marL="0">
              <a:buNone/>
            </a:pPr>
            <a:r>
              <a:rPr lang="en-US" sz="1500" dirty="0">
                <a:solidFill>
                  <a:schemeClr val="tx2"/>
                </a:solidFill>
                <a:latin typeface="Arial" pitchFamily="34" charset="0"/>
                <a:ea typeface="Arial" pitchFamily="34" charset="-122"/>
                <a:cs typeface="Arial" pitchFamily="34" charset="-120"/>
              </a:rPr>
              <a:t>is line 01 on the RFQ, part of the chosen bid, a line on the proposal and a line on the purchase order. Nothing is retyped, and every number traces back to its sheet.</a:t>
            </a:r>
            <a:endParaRPr lang="en-US" sz="1500" dirty="0"/>
          </a:p>
        </p:txBody>
      </p:sp>
      <p:grpSp>
        <p:nvGrpSpPr>
          <p:cNvPr id="39" name="s3_legend"/>
          <p:cNvGrpSpPr/>
          <p:nvPr/>
        </p:nvGrpSpPr>
        <p:grpSpPr>
          <a:xfrm>
            <a:off x="868680" y="5760720"/>
            <a:ext cx="5715000" cy="237744"/>
            <a:chOff x="868680" y="5760720"/>
            <a:chExt cx="5715000" cy="237744"/>
          </a:xfrm>
        </p:grpSpPr>
        <p:sp>
          <p:nvSpPr>
            <p:cNvPr id="31" name="t"/>
            <p:cNvSpPr txBox="1"/>
            <p:nvPr/>
          </p:nvSpPr>
          <p:spPr>
            <a:xfrm>
              <a:off x="868680" y="5760720"/>
              <a:ext cx="2834640" cy="237744"/>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AI READS, A PERSON CONFIRMS</a:t>
              </a:r>
              <a:endParaRPr lang="en-US" sz="1000" dirty="0"/>
            </a:p>
          </p:txBody>
        </p:sp>
        <p:sp>
          <p:nvSpPr>
            <p:cNvPr id="32" name="o"/>
            <p:cNvSpPr/>
            <p:nvPr/>
          </p:nvSpPr>
          <p:spPr>
            <a:xfrm>
              <a:off x="3246120" y="5824728"/>
              <a:ext cx="109728" cy="109728"/>
            </a:xfrm>
            <a:prstGeom prst="rect">
              <a:avLst/>
            </a:prstGeom>
            <a:solidFill>
              <a:schemeClr val="accent1"/>
            </a:solidFill>
            <a:ln/>
          </p:spPr>
        </p:sp>
        <p:sp>
          <p:nvSpPr>
            <p:cNvPr id="33" name="ot"/>
            <p:cNvSpPr txBox="1"/>
            <p:nvPr/>
          </p:nvSpPr>
          <p:spPr>
            <a:xfrm>
              <a:off x="3429000" y="5760720"/>
              <a:ext cx="91440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AI READ</a:t>
              </a:r>
              <a:endParaRPr lang="en-US" sz="1000" dirty="0"/>
            </a:p>
          </p:txBody>
        </p:sp>
        <p:sp>
          <p:nvSpPr>
            <p:cNvPr id="34" name="g"/>
            <p:cNvSpPr/>
            <p:nvPr/>
          </p:nvSpPr>
          <p:spPr>
            <a:xfrm>
              <a:off x="4389120" y="5824728"/>
              <a:ext cx="109728" cy="109728"/>
            </a:xfrm>
            <a:prstGeom prst="rect">
              <a:avLst/>
            </a:prstGeom>
            <a:solidFill>
              <a:schemeClr val="accent2"/>
            </a:solidFill>
            <a:ln/>
          </p:spPr>
        </p:sp>
        <p:sp>
          <p:nvSpPr>
            <p:cNvPr id="35" name="gt"/>
            <p:cNvSpPr txBox="1"/>
            <p:nvPr/>
          </p:nvSpPr>
          <p:spPr>
            <a:xfrm>
              <a:off x="4572000" y="5760720"/>
              <a:ext cx="201168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VERIFIED BY A PERSON</a:t>
              </a:r>
              <a:endParaRPr lang="en-US" sz="1000" dirty="0"/>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600"/>
                                        <p:tgtEl>
                                          <p:spTgt spid="36"/>
                                        </p:tgtEl>
                                      </p:cBhvr>
                                    </p:animEffect>
                                    <p:anim calcmode="lin" valueType="num">
                                      <p:cBhvr>
                                        <p:cTn id="13" dur="600" decel="100000" fill="hold"/>
                                        <p:tgtEl>
                                          <p:spTgt spid="36"/>
                                        </p:tgtEl>
                                        <p:attrNameLst>
                                          <p:attrName>ppt_x</p:attrName>
                                        </p:attrNameLst>
                                      </p:cBhvr>
                                      <p:tavLst>
                                        <p:tav tm="0">
                                          <p:val>
                                            <p:strVal val="#ppt_x"/>
                                          </p:val>
                                        </p:tav>
                                        <p:tav tm="100000">
                                          <p:val>
                                            <p:strVal val="#ppt_x"/>
                                          </p:val>
                                        </p:tav>
                                      </p:tavLst>
                                    </p:anim>
                                    <p:anim calcmode="lin" valueType="num">
                                      <p:cBhvr>
                                        <p:cTn id="14" dur="600" decel="100000" fill="hold"/>
                                        <p:tgtEl>
                                          <p:spTgt spid="36"/>
                                        </p:tgtEl>
                                        <p:attrNameLst>
                                          <p:attrName>ppt_y</p:attrName>
                                        </p:attrNameLst>
                                      </p:cBhvr>
                                      <p:tavLst>
                                        <p:tav tm="0">
                                          <p:val>
                                            <p:strVal val="#ppt_y+.025"/>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600"/>
                                        <p:tgtEl>
                                          <p:spTgt spid="37"/>
                                        </p:tgtEl>
                                      </p:cBhvr>
                                    </p:animEffect>
                                    <p:anim calcmode="lin" valueType="num">
                                      <p:cBhvr>
                                        <p:cTn id="18" dur="600" decel="100000" fill="hold"/>
                                        <p:tgtEl>
                                          <p:spTgt spid="37"/>
                                        </p:tgtEl>
                                        <p:attrNameLst>
                                          <p:attrName>ppt_x</p:attrName>
                                        </p:attrNameLst>
                                      </p:cBhvr>
                                      <p:tavLst>
                                        <p:tav tm="0">
                                          <p:val>
                                            <p:strVal val="#ppt_x"/>
                                          </p:val>
                                        </p:tav>
                                        <p:tav tm="100000">
                                          <p:val>
                                            <p:strVal val="#ppt_x"/>
                                          </p:val>
                                        </p:tav>
                                      </p:tavLst>
                                    </p:anim>
                                    <p:anim calcmode="lin" valueType="num">
                                      <p:cBhvr>
                                        <p:cTn id="19" dur="600" decel="100000" fill="hold"/>
                                        <p:tgtEl>
                                          <p:spTgt spid="37"/>
                                        </p:tgtEl>
                                        <p:attrNameLst>
                                          <p:attrName>ppt_y</p:attrName>
                                        </p:attrNameLst>
                                      </p:cBhvr>
                                      <p:tavLst>
                                        <p:tav tm="0">
                                          <p:val>
                                            <p:strVal val="#ppt_y+.025"/>
                                          </p:val>
                                        </p:tav>
                                        <p:tav tm="100000">
                                          <p:val>
                                            <p:strVal val="#ppt_y"/>
                                          </p:val>
                                        </p:tav>
                                      </p:tavLst>
                                    </p:anim>
                                  </p:childTnLst>
                                </p:cTn>
                              </p:par>
                              <p:par>
                                <p:cTn id="20" presetID="42" presetClass="entr" presetSubtype="0" fill="hold" grpId="0" nodeType="withEffect">
                                  <p:stCondLst>
                                    <p:cond delay="48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600"/>
                                        <p:tgtEl>
                                          <p:spTgt spid="38"/>
                                        </p:tgtEl>
                                      </p:cBhvr>
                                    </p:animEffect>
                                    <p:anim calcmode="lin" valueType="num">
                                      <p:cBhvr>
                                        <p:cTn id="23" dur="600" decel="100000" fill="hold"/>
                                        <p:tgtEl>
                                          <p:spTgt spid="38"/>
                                        </p:tgtEl>
                                        <p:attrNameLst>
                                          <p:attrName>ppt_x</p:attrName>
                                        </p:attrNameLst>
                                      </p:cBhvr>
                                      <p:tavLst>
                                        <p:tav tm="0">
                                          <p:val>
                                            <p:strVal val="#ppt_x"/>
                                          </p:val>
                                        </p:tav>
                                        <p:tav tm="100000">
                                          <p:val>
                                            <p:strVal val="#ppt_x"/>
                                          </p:val>
                                        </p:tav>
                                      </p:tavLst>
                                    </p:anim>
                                    <p:anim calcmode="lin" valueType="num">
                                      <p:cBhvr>
                                        <p:cTn id="24" dur="600" decel="100000" fill="hold"/>
                                        <p:tgtEl>
                                          <p:spTgt spid="38"/>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58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66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42" presetClass="entr" presetSubtype="0" fill="hold" grpId="0" nodeType="withEffect">
                                  <p:stCondLst>
                                    <p:cond delay="74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600"/>
                                        <p:tgtEl>
                                          <p:spTgt spid="30"/>
                                        </p:tgtEl>
                                      </p:cBhvr>
                                    </p:animEffect>
                                    <p:anim calcmode="lin" valueType="num">
                                      <p:cBhvr>
                                        <p:cTn id="34" dur="600" decel="100000" fill="hold"/>
                                        <p:tgtEl>
                                          <p:spTgt spid="30"/>
                                        </p:tgtEl>
                                        <p:attrNameLst>
                                          <p:attrName>ppt_x</p:attrName>
                                        </p:attrNameLst>
                                      </p:cBhvr>
                                      <p:tavLst>
                                        <p:tav tm="0">
                                          <p:val>
                                            <p:strVal val="#ppt_x"/>
                                          </p:val>
                                        </p:tav>
                                        <p:tav tm="100000">
                                          <p:val>
                                            <p:strVal val="#ppt_x"/>
                                          </p:val>
                                        </p:tav>
                                      </p:tavLst>
                                    </p:anim>
                                    <p:anim calcmode="lin" valueType="num">
                                      <p:cBhvr>
                                        <p:cTn id="35" dur="600" decel="100000" fill="hold"/>
                                        <p:tgtEl>
                                          <p:spTgt spid="30"/>
                                        </p:tgtEl>
                                        <p:attrNameLst>
                                          <p:attrName>ppt_y</p:attrName>
                                        </p:attrNameLst>
                                      </p:cBhvr>
                                      <p:tavLst>
                                        <p:tav tm="0">
                                          <p:val>
                                            <p:strVal val="#ppt_y+.025"/>
                                          </p:val>
                                        </p:tav>
                                        <p:tav tm="100000">
                                          <p:val>
                                            <p:strVal val="#ppt_y"/>
                                          </p:val>
                                        </p:tav>
                                      </p:tavLst>
                                    </p:anim>
                                  </p:childTnLst>
                                </p:cTn>
                              </p:par>
                              <p:par>
                                <p:cTn id="36" presetID="42" presetClass="entr" presetSubtype="0" fill="hold" grpId="0" nodeType="withEffect">
                                  <p:stCondLst>
                                    <p:cond delay="84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600"/>
                                        <p:tgtEl>
                                          <p:spTgt spid="39"/>
                                        </p:tgtEl>
                                      </p:cBhvr>
                                    </p:animEffect>
                                    <p:anim calcmode="lin" valueType="num">
                                      <p:cBhvr>
                                        <p:cTn id="39" dur="600" decel="100000" fill="hold"/>
                                        <p:tgtEl>
                                          <p:spTgt spid="39"/>
                                        </p:tgtEl>
                                        <p:attrNameLst>
                                          <p:attrName>ppt_x</p:attrName>
                                        </p:attrNameLst>
                                      </p:cBhvr>
                                      <p:tavLst>
                                        <p:tav tm="0">
                                          <p:val>
                                            <p:strVal val="#ppt_x"/>
                                          </p:val>
                                        </p:tav>
                                        <p:tav tm="100000">
                                          <p:val>
                                            <p:strVal val="#ppt_x"/>
                                          </p:val>
                                        </p:tav>
                                      </p:tavLst>
                                    </p:anim>
                                    <p:anim calcmode="lin" valueType="num">
                                      <p:cBhvr>
                                        <p:cTn id="40" dur="600" decel="100000" fill="hold"/>
                                        <p:tgtEl>
                                          <p:spTgt spid="39"/>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ursor"/>
          <p:cNvSpPr/>
          <p:nvPr/>
        </p:nvSpPr>
        <p:spPr>
          <a:xfrm rot="5400000">
            <a:off x="182880" y="3410712"/>
            <a:ext cx="164592" cy="146304"/>
          </a:xfrm>
          <a:prstGeom prst="triangle">
            <a:avLst/>
          </a:prstGeom>
          <a:solidFill>
            <a:schemeClr val="accent1"/>
          </a:solidFill>
          <a:ln/>
        </p:spPr>
      </p:sp>
      <p:sp>
        <p:nvSpPr>
          <p:cNvPr id="3" name="!!cursorTick"/>
          <p:cNvSpPr/>
          <p:nvPr/>
        </p:nvSpPr>
        <p:spPr>
          <a:xfrm>
            <a:off x="411480" y="3483864"/>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04 / 07</a:t>
            </a:r>
            <a:endParaRPr lang="en-US" sz="1000" dirty="0"/>
          </a:p>
        </p:txBody>
      </p:sp>
      <p:sp>
        <p:nvSpPr>
          <p:cNvPr id="5" name="s4_eyebrow"/>
          <p:cNvSpPr txBox="1"/>
          <p:nvPr/>
        </p:nvSpPr>
        <p:spPr>
          <a:xfrm>
            <a:off x="868680" y="914400"/>
            <a:ext cx="34290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03 / EXTRACT</a:t>
            </a:r>
            <a:endParaRPr lang="en-US" sz="1050" dirty="0"/>
          </a:p>
        </p:txBody>
      </p:sp>
      <p:sp>
        <p:nvSpPr>
          <p:cNvPr id="6" name="!!title"/>
          <p:cNvSpPr/>
          <p:nvPr>
            <p:ph idx="103" type="title" hasCustomPrompt="1"/>
          </p:nvPr>
        </p:nvSpPr>
        <p:spPr>
          <a:xfrm>
            <a:off x="868680" y="1188720"/>
            <a:ext cx="3429000" cy="1371600"/>
          </a:xfrm>
          <a:prstGeom prst="rect">
            <a:avLst/>
          </a:prstGeom>
          <a:noFill/>
          <a:ln/>
        </p:spPr>
        <p:txBody>
          <a:bodyPr wrap="square" lIns="0" tIns="0" rIns="0" bIns="0" rtlCol="0" anchor="t"/>
          <a:lstStyle/>
          <a:p>
            <a:pPr algn="l" indent="0" marL="0">
              <a:lnSpc>
                <a:spcPct val="88000"/>
              </a:lnSpc>
              <a:buNone/>
            </a:pPr>
            <a:r>
              <a:rPr lang="en-US" sz="3400" b="1" dirty="0">
                <a:solidFill>
                  <a:schemeClr val="tx1"/>
                </a:solidFill>
                <a:latin typeface="Arial Narrow" pitchFamily="34" charset="0"/>
                <a:ea typeface="Arial Narrow" pitchFamily="34" charset="-122"/>
                <a:cs typeface="Arial Narrow" pitchFamily="34" charset="-120"/>
              </a:rPr>
              <a:t>THE SCHEDULE IS READ FIRST.</a:t>
            </a:r>
            <a:endParaRPr lang="en-US" sz="3400" dirty="0"/>
          </a:p>
        </p:txBody>
      </p:sp>
      <p:sp>
        <p:nvSpPr>
          <p:cNvPr id="7" name="s4_body"/>
          <p:cNvSpPr txBox="1"/>
          <p:nvPr/>
        </p:nvSpPr>
        <p:spPr>
          <a:xfrm>
            <a:off x="868680" y="2560320"/>
            <a:ext cx="3429000" cy="1691640"/>
          </a:xfrm>
          <a:prstGeom prst="rect">
            <a:avLst/>
          </a:prstGeom>
          <a:noFill/>
          <a:ln/>
        </p:spPr>
        <p:txBody>
          <a:bodyPr wrap="square" lIns="0" tIns="0" rIns="0" bIns="0" rtlCol="0" anchor="t"/>
          <a:lstStyle/>
          <a:p>
            <a:pPr indent="0" marL="0">
              <a:lnSpc>
                <a:spcPct val="110000"/>
              </a:lnSpc>
              <a:buNone/>
            </a:pPr>
            <a:r>
              <a:rPr lang="en-US" sz="1400" dirty="0">
                <a:solidFill>
                  <a:schemeClr val="tx2"/>
                </a:solidFill>
                <a:latin typeface="Arial" pitchFamily="34" charset="0"/>
                <a:ea typeface="Arial" pitchFamily="34" charset="-122"/>
                <a:cs typeface="Arial" pitchFamily="34" charset="-120"/>
              </a:rPr>
              <a:t>All 31 pages are sorted in about half a minute. The window schedule on A-4.1 already gives every window a size and a count, so it is the takeoff. Nothing else is read just in case.</a:t>
            </a:r>
            <a:endParaRPr lang="en-US" sz="1400" dirty="0"/>
          </a:p>
        </p:txBody>
      </p:sp>
      <p:grpSp>
        <p:nvGrpSpPr>
          <p:cNvPr id="19" name="s4_stats"/>
          <p:cNvGrpSpPr/>
          <p:nvPr/>
        </p:nvGrpSpPr>
        <p:grpSpPr>
          <a:xfrm>
            <a:off x="868680" y="4434840"/>
            <a:ext cx="3419856" cy="832104"/>
            <a:chOff x="868680" y="4434840"/>
            <a:chExt cx="3419856" cy="832104"/>
          </a:xfrm>
        </p:grpSpPr>
        <p:sp>
          <p:nvSpPr>
            <p:cNvPr id="8" name="n0"/>
            <p:cNvSpPr txBox="1"/>
            <p:nvPr/>
          </p:nvSpPr>
          <p:spPr>
            <a:xfrm>
              <a:off x="868680" y="4434840"/>
              <a:ext cx="1097280" cy="566928"/>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65</a:t>
              </a:r>
              <a:endParaRPr lang="en-US" sz="4000" dirty="0"/>
            </a:p>
          </p:txBody>
        </p:sp>
        <p:sp>
          <p:nvSpPr>
            <p:cNvPr id="9" name="l0"/>
            <p:cNvSpPr txBox="1"/>
            <p:nvPr/>
          </p:nvSpPr>
          <p:spPr>
            <a:xfrm>
              <a:off x="868680" y="5029200"/>
              <a:ext cx="1097280"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WINDOWS</a:t>
              </a:r>
              <a:endParaRPr lang="en-US" sz="1000" dirty="0"/>
            </a:p>
          </p:txBody>
        </p:sp>
        <p:sp>
          <p:nvSpPr>
            <p:cNvPr id="10" name="n1"/>
            <p:cNvSpPr txBox="1"/>
            <p:nvPr/>
          </p:nvSpPr>
          <p:spPr>
            <a:xfrm>
              <a:off x="2029968" y="4434840"/>
              <a:ext cx="1097280" cy="566928"/>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12</a:t>
              </a:r>
              <a:endParaRPr lang="en-US" sz="4000" dirty="0"/>
            </a:p>
          </p:txBody>
        </p:sp>
        <p:sp>
          <p:nvSpPr>
            <p:cNvPr id="11" name="l1"/>
            <p:cNvSpPr txBox="1"/>
            <p:nvPr/>
          </p:nvSpPr>
          <p:spPr>
            <a:xfrm>
              <a:off x="2029968" y="5029200"/>
              <a:ext cx="1097280"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PRODUCTS</a:t>
              </a:r>
              <a:endParaRPr lang="en-US" sz="1000" dirty="0"/>
            </a:p>
          </p:txBody>
        </p:sp>
        <p:sp>
          <p:nvSpPr>
            <p:cNvPr id="12" name="n2"/>
            <p:cNvSpPr txBox="1"/>
            <p:nvPr/>
          </p:nvSpPr>
          <p:spPr>
            <a:xfrm>
              <a:off x="3191256" y="4434840"/>
              <a:ext cx="1097280" cy="566928"/>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~1</a:t>
              </a:r>
              <a:endParaRPr lang="en-US" sz="4000" dirty="0"/>
            </a:p>
          </p:txBody>
        </p:sp>
        <p:sp>
          <p:nvSpPr>
            <p:cNvPr id="13" name="l2"/>
            <p:cNvSpPr txBox="1"/>
            <p:nvPr/>
          </p:nvSpPr>
          <p:spPr>
            <a:xfrm>
              <a:off x="3191256" y="5029200"/>
              <a:ext cx="1097280"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MINUTE</a:t>
              </a:r>
              <a:endParaRPr lang="en-US" sz="1000" dirty="0"/>
            </a:p>
          </p:txBody>
        </p:sp>
      </p:grpSp>
      <p:sp>
        <p:nvSpPr>
          <p:cNvPr id="14" name="!!shotframe"/>
          <p:cNvSpPr/>
          <p:nvPr/>
        </p:nvSpPr>
        <p:spPr>
          <a:xfrm>
            <a:off x="4572000" y="1143000"/>
            <a:ext cx="6766560" cy="4263390"/>
          </a:xfrm>
          <a:prstGeom prst="rect">
            <a:avLst/>
          </a:prstGeom>
          <a:solidFill>
            <a:schemeClr val="bg1"/>
          </a:solidFill>
          <a:ln w="12700">
            <a:solidFill>
              <a:schemeClr val="accent6"/>
            </a:solidFill>
            <a:prstDash val="solid"/>
          </a:ln>
          <a:effectLst>
            <a:outerShdw sx="100000" sy="100000" kx="0" ky="0" algn="bl" rotWithShape="0" blurRad="177800" dist="50800" dir="5400000">
              <a:srgbClr val="000000">
                <a:alpha val="55000"/>
              </a:srgbClr>
            </a:outerShdw>
          </a:effectLst>
        </p:spPr>
      </p:sp>
      <p:pic>
        <p:nvPicPr>
          <p:cNvPr id="15" name="!!shot" descr="WindowBid screenshot">    </p:cNvPr>
          <p:cNvPicPr>
            <a:picLocks noChangeAspect="1"/>
          </p:cNvPicPr>
          <p:nvPr/>
        </p:nvPicPr>
        <p:blipFill>
          <a:blip r:embed="rId1"/>
          <a:stretch>
            <a:fillRect/>
          </a:stretch>
        </p:blipFill>
        <p:spPr>
          <a:xfrm>
            <a:off x="4617720" y="1188720"/>
            <a:ext cx="6675120" cy="4171950"/>
          </a:xfrm>
          <a:prstGeom prst="rect">
            <a:avLst/>
          </a:prstGeom>
        </p:spPr>
      </p:pic>
      <p:sp>
        <p:nvSpPr>
          <p:cNvPr id="16" name="s4_m1"/>
          <p:cNvSpPr/>
          <p:nvPr/>
        </p:nvSpPr>
        <p:spPr>
          <a:xfrm>
            <a:off x="6650101" y="3272092"/>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1</a:t>
            </a:r>
            <a:endParaRPr lang="en-US" sz="1100" dirty="0"/>
          </a:p>
        </p:txBody>
      </p:sp>
      <p:sp>
        <p:nvSpPr>
          <p:cNvPr id="17" name="s4_m2"/>
          <p:cNvSpPr/>
          <p:nvPr/>
        </p:nvSpPr>
        <p:spPr>
          <a:xfrm>
            <a:off x="11067733" y="2558225"/>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2</a:t>
            </a:r>
            <a:endParaRPr lang="en-US" sz="1100" dirty="0"/>
          </a:p>
        </p:txBody>
      </p:sp>
      <p:sp>
        <p:nvSpPr>
          <p:cNvPr id="18" name="s4_cap"/>
          <p:cNvSpPr txBox="1"/>
          <p:nvPr/>
        </p:nvSpPr>
        <p:spPr>
          <a:xfrm>
            <a:off x="4617720" y="5516118"/>
            <a:ext cx="6675120" cy="237744"/>
          </a:xfrm>
          <a:prstGeom prst="rect">
            <a:avLst/>
          </a:prstGeom>
          <a:noFill/>
          <a:ln/>
        </p:spPr>
        <p:txBody>
          <a:bodyPr wrap="square" lIns="0" tIns="0" rIns="0" bIns="0" rtlCol="0" anchor="ctr"/>
          <a:lstStyle/>
          <a:p>
            <a:pPr indent="0" marL="0">
              <a:buNone/>
            </a:pPr>
            <a:r>
              <a:rPr lang="en-US" sz="1000" b="1" dirty="0">
                <a:solidFill>
                  <a:schemeClr val="accent1"/>
                </a:solidFill>
                <a:latin typeface="Consolas" pitchFamily="34" charset="0"/>
                <a:ea typeface="Consolas" pitchFamily="34" charset="-122"/>
                <a:cs typeface="Consolas" pitchFamily="34" charset="-120"/>
              </a:rPr>
              <a:t>1 </a:t>
            </a:r>
            <a:pPr indent="0" marL="0">
              <a:buNone/>
            </a:pPr>
            <a:r>
              <a:rPr lang="en-US" sz="1000" dirty="0">
                <a:solidFill>
                  <a:schemeClr val="tx2"/>
                </a:solidFill>
                <a:latin typeface="Consolas" pitchFamily="34" charset="0"/>
                <a:ea typeface="Consolas" pitchFamily="34" charset="-122"/>
                <a:cs typeface="Consolas" pitchFamily="34" charset="-120"/>
              </a:rPr>
              <a:t>SCHEDULE ROW ON A-4.1     </a:t>
            </a:r>
            <a:pPr indent="0" marL="0">
              <a:buNone/>
            </a:pPr>
            <a:r>
              <a:rPr lang="en-US" sz="1000" b="1" dirty="0">
                <a:solidFill>
                  <a:schemeClr val="accent1"/>
                </a:solidFill>
                <a:latin typeface="Consolas" pitchFamily="34" charset="0"/>
                <a:ea typeface="Consolas" pitchFamily="34" charset="-122"/>
                <a:cs typeface="Consolas" pitchFamily="34" charset="-120"/>
              </a:rPr>
              <a:t>2 </a:t>
            </a:r>
            <a:pPr indent="0" marL="0">
              <a:buNone/>
            </a:pPr>
            <a:r>
              <a:rPr lang="en-US" sz="1000" dirty="0">
                <a:solidFill>
                  <a:schemeClr val="tx2"/>
                </a:solidFill>
                <a:latin typeface="Consolas" pitchFamily="34" charset="0"/>
                <a:ea typeface="Consolas" pitchFamily="34" charset="-122"/>
                <a:cs typeface="Consolas" pitchFamily="34" charset="-120"/>
              </a:rPr>
              <a:t>THE SAME ROW AS A PRODUCT · 30 × 72 IN · QTY 15</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3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p:cTn id="13" dur="600" decel="100000" fill="hold"/>
                                        <p:tgtEl>
                                          <p:spTgt spid="7"/>
                                        </p:tgtEl>
                                        <p:attrNameLst>
                                          <p:attrName>ppt_x</p:attrName>
                                        </p:attrNameLst>
                                      </p:cBhvr>
                                      <p:tavLst>
                                        <p:tav tm="0">
                                          <p:val>
                                            <p:strVal val="#ppt_x"/>
                                          </p:val>
                                        </p:tav>
                                        <p:tav tm="100000">
                                          <p:val>
                                            <p:strVal val="#ppt_x"/>
                                          </p:val>
                                        </p:tav>
                                      </p:tavLst>
                                    </p:anim>
                                    <p:anim calcmode="lin" valueType="num">
                                      <p:cBhvr>
                                        <p:cTn id="14" dur="600" decel="100000" fill="hold"/>
                                        <p:tgtEl>
                                          <p:spTgt spid="7"/>
                                        </p:tgtEl>
                                        <p:attrNameLst>
                                          <p:attrName>ppt_y</p:attrName>
                                        </p:attrNameLst>
                                      </p:cBhvr>
                                      <p:tavLst>
                                        <p:tav tm="0">
                                          <p:val>
                                            <p:strVal val="#ppt_y+.025"/>
                                          </p:val>
                                        </p:tav>
                                        <p:tav tm="100000">
                                          <p:val>
                                            <p:strVal val="#ppt_y"/>
                                          </p:val>
                                        </p:tav>
                                      </p:tavLst>
                                    </p:anim>
                                  </p:childTnLst>
                                </p:cTn>
                              </p:par>
                              <p:par>
                                <p:cTn id="15" presetID="42" presetClass="entr" presetSubtype="0" fill="hold" grpId="0" nodeType="withEffect">
                                  <p:stCondLst>
                                    <p:cond delay="35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600"/>
                                        <p:tgtEl>
                                          <p:spTgt spid="19"/>
                                        </p:tgtEl>
                                      </p:cBhvr>
                                    </p:animEffect>
                                    <p:anim calcmode="lin" valueType="num">
                                      <p:cBhvr>
                                        <p:cTn id="18" dur="600" decel="100000" fill="hold"/>
                                        <p:tgtEl>
                                          <p:spTgt spid="19"/>
                                        </p:tgtEl>
                                        <p:attrNameLst>
                                          <p:attrName>ppt_x</p:attrName>
                                        </p:attrNameLst>
                                      </p:cBhvr>
                                      <p:tavLst>
                                        <p:tav tm="0">
                                          <p:val>
                                            <p:strVal val="#ppt_x"/>
                                          </p:val>
                                        </p:tav>
                                        <p:tav tm="100000">
                                          <p:val>
                                            <p:strVal val="#ppt_x"/>
                                          </p:val>
                                        </p:tav>
                                      </p:tavLst>
                                    </p:anim>
                                    <p:anim calcmode="lin" valueType="num">
                                      <p:cBhvr>
                                        <p:cTn id="19" dur="600" decel="100000" fill="hold"/>
                                        <p:tgtEl>
                                          <p:spTgt spid="19"/>
                                        </p:tgtEl>
                                        <p:attrNameLst>
                                          <p:attrName>ppt_y</p:attrName>
                                        </p:attrNameLst>
                                      </p:cBhvr>
                                      <p:tavLst>
                                        <p:tav tm="0">
                                          <p:val>
                                            <p:strVal val="#ppt_y+.025"/>
                                          </p:val>
                                        </p:tav>
                                        <p:tav tm="100000">
                                          <p:val>
                                            <p:strVal val="#ppt_y"/>
                                          </p:val>
                                        </p:tav>
                                      </p:tavLst>
                                    </p:anim>
                                  </p:childTnLst>
                                </p:cTn>
                              </p:par>
                              <p:par>
                                <p:cTn id="20" presetID="53" presetClass="entr" presetSubtype="16" fill="hold" grpId="0" nodeType="withEffect">
                                  <p:stCondLst>
                                    <p:cond delay="65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20"/>
                                        <p:tgtEl>
                                          <p:spTgt spid="16"/>
                                        </p:tgtEl>
                                      </p:cBhvr>
                                    </p:animEffect>
                                    <p:anim calcmode="lin" valueType="num">
                                      <p:cBhvr>
                                        <p:cTn id="23" dur="420" decel="100000" fill="hold"/>
                                        <p:tgtEl>
                                          <p:spTgt spid="16"/>
                                        </p:tgtEl>
                                        <p:attrNameLst>
                                          <p:attrName>ppt_w</p:attrName>
                                        </p:attrNameLst>
                                      </p:cBhvr>
                                      <p:tavLst>
                                        <p:tav tm="0">
                                          <p:val>
                                            <p:strVal val="#ppt_w*0.6"/>
                                          </p:val>
                                        </p:tav>
                                        <p:tav tm="100000">
                                          <p:val>
                                            <p:strVal val="#ppt_w"/>
                                          </p:val>
                                        </p:tav>
                                      </p:tavLst>
                                    </p:anim>
                                    <p:anim calcmode="lin" valueType="num">
                                      <p:cBhvr>
                                        <p:cTn id="24" dur="420" decel="100000" fill="hold"/>
                                        <p:tgtEl>
                                          <p:spTgt spid="16"/>
                                        </p:tgtEl>
                                        <p:attrNameLst>
                                          <p:attrName>ppt_h</p:attrName>
                                        </p:attrNameLst>
                                      </p:cBhvr>
                                      <p:tavLst>
                                        <p:tav tm="0">
                                          <p:val>
                                            <p:strVal val="#ppt_h*0.6"/>
                                          </p:val>
                                        </p:tav>
                                        <p:tav tm="100000">
                                          <p:val>
                                            <p:strVal val="#ppt_h"/>
                                          </p:val>
                                        </p:tav>
                                      </p:tavLst>
                                    </p:anim>
                                  </p:childTnLst>
                                </p:cTn>
                              </p:par>
                              <p:par>
                                <p:cTn id="25" presetID="10" presetClass="entr" presetSubtype="0" fill="hold" grpId="0" nodeType="withEffect">
                                  <p:stCondLst>
                                    <p:cond delay="65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53" presetClass="entr" presetSubtype="16" fill="hold" grpId="0" nodeType="withEffect">
                                  <p:stCondLst>
                                    <p:cond delay="77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20"/>
                                        <p:tgtEl>
                                          <p:spTgt spid="17"/>
                                        </p:tgtEl>
                                      </p:cBhvr>
                                    </p:animEffect>
                                    <p:anim calcmode="lin" valueType="num">
                                      <p:cBhvr>
                                        <p:cTn id="31" dur="420" decel="100000" fill="hold"/>
                                        <p:tgtEl>
                                          <p:spTgt spid="17"/>
                                        </p:tgtEl>
                                        <p:attrNameLst>
                                          <p:attrName>ppt_w</p:attrName>
                                        </p:attrNameLst>
                                      </p:cBhvr>
                                      <p:tavLst>
                                        <p:tav tm="0">
                                          <p:val>
                                            <p:strVal val="#ppt_w*0.6"/>
                                          </p:val>
                                        </p:tav>
                                        <p:tav tm="100000">
                                          <p:val>
                                            <p:strVal val="#ppt_w"/>
                                          </p:val>
                                        </p:tav>
                                      </p:tavLst>
                                    </p:anim>
                                    <p:anim calcmode="lin" valueType="num">
                                      <p:cBhvr>
                                        <p:cTn id="32" dur="420" decel="100000" fill="hold"/>
                                        <p:tgtEl>
                                          <p:spTgt spid="17"/>
                                        </p:tgtEl>
                                        <p:attrNameLst>
                                          <p:attrName>ppt_h</p:attrName>
                                        </p:attrNameLst>
                                      </p:cBhvr>
                                      <p:tavLst>
                                        <p:tav tm="0">
                                          <p:val>
                                            <p:strVal val="#ppt_h*0.6"/>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6" grpId="0" animBg="1"/>
      <p:bldP spid="18"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ursor"/>
          <p:cNvSpPr/>
          <p:nvPr/>
        </p:nvSpPr>
        <p:spPr>
          <a:xfrm rot="5400000">
            <a:off x="182880" y="4244122"/>
            <a:ext cx="164592" cy="146304"/>
          </a:xfrm>
          <a:prstGeom prst="triangle">
            <a:avLst/>
          </a:prstGeom>
          <a:solidFill>
            <a:schemeClr val="accent1"/>
          </a:solidFill>
          <a:ln/>
        </p:spPr>
      </p:sp>
      <p:sp>
        <p:nvSpPr>
          <p:cNvPr id="3" name="!!cursorTick"/>
          <p:cNvSpPr/>
          <p:nvPr/>
        </p:nvSpPr>
        <p:spPr>
          <a:xfrm>
            <a:off x="411480" y="4317274"/>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05 / 07</a:t>
            </a:r>
            <a:endParaRPr lang="en-US" sz="1000" dirty="0"/>
          </a:p>
        </p:txBody>
      </p:sp>
      <p:sp>
        <p:nvSpPr>
          <p:cNvPr id="5" name="s5_eyebrow"/>
          <p:cNvSpPr txBox="1"/>
          <p:nvPr/>
        </p:nvSpPr>
        <p:spPr>
          <a:xfrm>
            <a:off x="7863840" y="914400"/>
            <a:ext cx="34290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04 / EXTRACT</a:t>
            </a:r>
            <a:endParaRPr lang="en-US" sz="1050" dirty="0"/>
          </a:p>
        </p:txBody>
      </p:sp>
      <p:sp>
        <p:nvSpPr>
          <p:cNvPr id="6" name="!!title"/>
          <p:cNvSpPr/>
          <p:nvPr>
            <p:ph idx="103" type="title" hasCustomPrompt="1"/>
          </p:nvPr>
        </p:nvSpPr>
        <p:spPr>
          <a:xfrm>
            <a:off x="7863840" y="1188720"/>
            <a:ext cx="3429000" cy="1371600"/>
          </a:xfrm>
          <a:prstGeom prst="rect">
            <a:avLst/>
          </a:prstGeom>
          <a:noFill/>
          <a:ln/>
        </p:spPr>
        <p:txBody>
          <a:bodyPr wrap="square" lIns="0" tIns="0" rIns="0" bIns="0" rtlCol="0" anchor="t"/>
          <a:lstStyle/>
          <a:p>
            <a:pPr algn="l" indent="0" marL="0">
              <a:lnSpc>
                <a:spcPct val="88000"/>
              </a:lnSpc>
              <a:buNone/>
            </a:pPr>
            <a:r>
              <a:rPr lang="en-US" sz="3400" b="1" dirty="0">
                <a:solidFill>
                  <a:schemeClr val="tx1"/>
                </a:solidFill>
                <a:latin typeface="Arial Narrow" pitchFamily="34" charset="0"/>
                <a:ea typeface="Arial Narrow" pitchFamily="34" charset="-122"/>
                <a:cs typeface="Arial Narrow" pitchFamily="34" charset="-120"/>
              </a:rPr>
              <a:t>EVERY WINDOW, ON THE PLAN.</a:t>
            </a:r>
            <a:endParaRPr lang="en-US" sz="3400" dirty="0"/>
          </a:p>
        </p:txBody>
      </p:sp>
      <p:sp>
        <p:nvSpPr>
          <p:cNvPr id="7" name="s5_body"/>
          <p:cNvSpPr txBox="1"/>
          <p:nvPr/>
        </p:nvSpPr>
        <p:spPr>
          <a:xfrm>
            <a:off x="7863840" y="2560320"/>
            <a:ext cx="3429000" cy="1691640"/>
          </a:xfrm>
          <a:prstGeom prst="rect">
            <a:avLst/>
          </a:prstGeom>
          <a:noFill/>
          <a:ln/>
        </p:spPr>
        <p:txBody>
          <a:bodyPr wrap="square" lIns="0" tIns="0" rIns="0" bIns="0" rtlCol="0" anchor="t"/>
          <a:lstStyle/>
          <a:p>
            <a:pPr indent="0" marL="0">
              <a:lnSpc>
                <a:spcPct val="110000"/>
              </a:lnSpc>
              <a:buNone/>
            </a:pPr>
            <a:r>
              <a:rPr lang="en-US" sz="1400" dirty="0">
                <a:solidFill>
                  <a:schemeClr val="tx2"/>
                </a:solidFill>
                <a:latin typeface="Arial" pitchFamily="34" charset="0"/>
                <a:ea typeface="Arial" pitchFamily="34" charset="-122"/>
                <a:cs typeface="Arial" pitchFamily="34" charset="-120"/>
              </a:rPr>
              <a:t>While the dealer reviews, WindowBid finds the house plan in the set and places each scheduled window on it. The schedule stays the source of truth for counts; the plan adds where each window is and which room it serves.</a:t>
            </a:r>
            <a:endParaRPr lang="en-US" sz="1400" dirty="0"/>
          </a:p>
        </p:txBody>
      </p:sp>
      <p:grpSp>
        <p:nvGrpSpPr>
          <p:cNvPr id="15" name="s5_stat"/>
          <p:cNvGrpSpPr/>
          <p:nvPr/>
        </p:nvGrpSpPr>
        <p:grpSpPr>
          <a:xfrm>
            <a:off x="7863840" y="4434840"/>
            <a:ext cx="3429000" cy="832104"/>
            <a:chOff x="7863840" y="4434840"/>
            <a:chExt cx="3429000" cy="832104"/>
          </a:xfrm>
        </p:grpSpPr>
        <p:sp>
          <p:nvSpPr>
            <p:cNvPr id="8" name="n"/>
            <p:cNvSpPr txBox="1"/>
            <p:nvPr/>
          </p:nvSpPr>
          <p:spPr>
            <a:xfrm>
              <a:off x="7863840" y="4434840"/>
              <a:ext cx="3429000" cy="566928"/>
            </a:xfrm>
            <a:prstGeom prst="rect">
              <a:avLst/>
            </a:prstGeom>
            <a:noFill/>
            <a:ln/>
          </p:spPr>
          <p:txBody>
            <a:bodyPr wrap="square" lIns="0" tIns="0" rIns="0" bIns="0" rtlCol="0" anchor="t"/>
            <a:lstStyle/>
            <a:p>
              <a:pPr indent="0" marL="0">
                <a:buNone/>
              </a:pPr>
              <a:r>
                <a:rPr lang="en-US" sz="4000" b="1" dirty="0">
                  <a:solidFill>
                    <a:schemeClr val="tx1"/>
                  </a:solidFill>
                  <a:latin typeface="Arial Narrow" pitchFamily="34" charset="0"/>
                  <a:ea typeface="Arial Narrow" pitchFamily="34" charset="-122"/>
                  <a:cs typeface="Arial Narrow" pitchFamily="34" charset="-120"/>
                </a:rPr>
                <a:t>65 / 65</a:t>
              </a:r>
              <a:endParaRPr lang="en-US" sz="4000" dirty="0"/>
            </a:p>
          </p:txBody>
        </p:sp>
        <p:sp>
          <p:nvSpPr>
            <p:cNvPr id="9" name="l"/>
            <p:cNvSpPr txBox="1"/>
            <p:nvPr/>
          </p:nvSpPr>
          <p:spPr>
            <a:xfrm>
              <a:off x="7863840" y="5029200"/>
              <a:ext cx="3429000"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WINDOWS PLACED ON SHEET A-2.1</a:t>
              </a:r>
              <a:endParaRPr lang="en-US" sz="1000" dirty="0"/>
            </a:p>
          </p:txBody>
        </p:sp>
      </p:grpSp>
      <p:sp>
        <p:nvSpPr>
          <p:cNvPr id="10" name="!!shotframe"/>
          <p:cNvSpPr/>
          <p:nvPr/>
        </p:nvSpPr>
        <p:spPr>
          <a:xfrm>
            <a:off x="822960" y="1143000"/>
            <a:ext cx="6766560" cy="4263390"/>
          </a:xfrm>
          <a:prstGeom prst="rect">
            <a:avLst/>
          </a:prstGeom>
          <a:solidFill>
            <a:schemeClr val="bg1"/>
          </a:solidFill>
          <a:ln w="12700">
            <a:solidFill>
              <a:schemeClr val="accent6"/>
            </a:solidFill>
            <a:prstDash val="solid"/>
          </a:ln>
          <a:effectLst>
            <a:outerShdw sx="100000" sy="100000" kx="0" ky="0" algn="bl" rotWithShape="0" blurRad="177800" dist="50800" dir="5400000">
              <a:srgbClr val="000000">
                <a:alpha val="55000"/>
              </a:srgbClr>
            </a:outerShdw>
          </a:effectLst>
        </p:spPr>
      </p:sp>
      <p:pic>
        <p:nvPicPr>
          <p:cNvPr id="11" name="!!shot" descr="WindowBid screenshot">    </p:cNvPr>
          <p:cNvPicPr>
            <a:picLocks noChangeAspect="1"/>
          </p:cNvPicPr>
          <p:nvPr/>
        </p:nvPicPr>
        <p:blipFill>
          <a:blip r:embed="rId1"/>
          <a:stretch>
            <a:fillRect/>
          </a:stretch>
        </p:blipFill>
        <p:spPr>
          <a:xfrm>
            <a:off x="868680" y="1188720"/>
            <a:ext cx="6675120" cy="4171950"/>
          </a:xfrm>
          <a:prstGeom prst="rect">
            <a:avLst/>
          </a:prstGeom>
        </p:spPr>
      </p:pic>
      <p:sp>
        <p:nvSpPr>
          <p:cNvPr id="12" name="s5_m1"/>
          <p:cNvSpPr/>
          <p:nvPr/>
        </p:nvSpPr>
        <p:spPr>
          <a:xfrm>
            <a:off x="1834896" y="3202559"/>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1</a:t>
            </a:r>
            <a:endParaRPr lang="en-US" sz="1100" dirty="0"/>
          </a:p>
        </p:txBody>
      </p:sp>
      <p:sp>
        <p:nvSpPr>
          <p:cNvPr id="13" name="s5_m2"/>
          <p:cNvSpPr/>
          <p:nvPr/>
        </p:nvSpPr>
        <p:spPr>
          <a:xfrm>
            <a:off x="4764532" y="2989326"/>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2</a:t>
            </a:r>
            <a:endParaRPr lang="en-US" sz="1100" dirty="0"/>
          </a:p>
        </p:txBody>
      </p:sp>
      <p:sp>
        <p:nvSpPr>
          <p:cNvPr id="14" name="s5_cap"/>
          <p:cNvSpPr txBox="1"/>
          <p:nvPr/>
        </p:nvSpPr>
        <p:spPr>
          <a:xfrm>
            <a:off x="868680" y="5516118"/>
            <a:ext cx="6675120" cy="237744"/>
          </a:xfrm>
          <a:prstGeom prst="rect">
            <a:avLst/>
          </a:prstGeom>
          <a:noFill/>
          <a:ln/>
        </p:spPr>
        <p:txBody>
          <a:bodyPr wrap="square" lIns="0" tIns="0" rIns="0" bIns="0" rtlCol="0" anchor="ctr"/>
          <a:lstStyle/>
          <a:p>
            <a:pPr indent="0" marL="0">
              <a:buNone/>
            </a:pPr>
            <a:r>
              <a:rPr lang="en-US" sz="1000" b="1" dirty="0">
                <a:solidFill>
                  <a:schemeClr val="accent1"/>
                </a:solidFill>
                <a:latin typeface="Consolas" pitchFamily="34" charset="0"/>
                <a:ea typeface="Consolas" pitchFamily="34" charset="-122"/>
                <a:cs typeface="Consolas" pitchFamily="34" charset="-120"/>
              </a:rPr>
              <a:t>1 </a:t>
            </a:r>
            <a:pPr indent="0" marL="0">
              <a:buNone/>
            </a:pPr>
            <a:r>
              <a:rPr lang="en-US" sz="1000" dirty="0">
                <a:solidFill>
                  <a:schemeClr val="tx2"/>
                </a:solidFill>
                <a:latin typeface="Consolas" pitchFamily="34" charset="0"/>
                <a:ea typeface="Consolas" pitchFamily="34" charset="-122"/>
                <a:cs typeface="Consolas" pitchFamily="34" charset="-120"/>
              </a:rPr>
              <a:t>EACH WINDOW BOXED BY ITS TAG     </a:t>
            </a:r>
            <a:pPr indent="0" marL="0">
              <a:buNone/>
            </a:pPr>
            <a:r>
              <a:rPr lang="en-US" sz="1000" b="1" dirty="0">
                <a:solidFill>
                  <a:schemeClr val="accent1"/>
                </a:solidFill>
                <a:latin typeface="Consolas" pitchFamily="34" charset="0"/>
                <a:ea typeface="Consolas" pitchFamily="34" charset="-122"/>
                <a:cs typeface="Consolas" pitchFamily="34" charset="-120"/>
              </a:rPr>
              <a:t>2 </a:t>
            </a:r>
            <a:pPr indent="0" marL="0">
              <a:buNone/>
            </a:pPr>
            <a:r>
              <a:rPr lang="en-US" sz="1000" dirty="0">
                <a:solidFill>
                  <a:schemeClr val="tx2"/>
                </a:solidFill>
                <a:latin typeface="Consolas" pitchFamily="34" charset="0"/>
                <a:ea typeface="Consolas" pitchFamily="34" charset="-122"/>
                <a:cs typeface="Consolas" pitchFamily="34" charset="-120"/>
              </a:rPr>
              <a:t>ON PLAN A-2.1 · 15 OF 15</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3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p:cTn id="13" dur="600" decel="100000" fill="hold"/>
                                        <p:tgtEl>
                                          <p:spTgt spid="7"/>
                                        </p:tgtEl>
                                        <p:attrNameLst>
                                          <p:attrName>ppt_x</p:attrName>
                                        </p:attrNameLst>
                                      </p:cBhvr>
                                      <p:tavLst>
                                        <p:tav tm="0">
                                          <p:val>
                                            <p:strVal val="#ppt_x"/>
                                          </p:val>
                                        </p:tav>
                                        <p:tav tm="100000">
                                          <p:val>
                                            <p:strVal val="#ppt_x"/>
                                          </p:val>
                                        </p:tav>
                                      </p:tavLst>
                                    </p:anim>
                                    <p:anim calcmode="lin" valueType="num">
                                      <p:cBhvr>
                                        <p:cTn id="14" dur="600" decel="100000" fill="hold"/>
                                        <p:tgtEl>
                                          <p:spTgt spid="7"/>
                                        </p:tgtEl>
                                        <p:attrNameLst>
                                          <p:attrName>ppt_y</p:attrName>
                                        </p:attrNameLst>
                                      </p:cBhvr>
                                      <p:tavLst>
                                        <p:tav tm="0">
                                          <p:val>
                                            <p:strVal val="#ppt_y+.025"/>
                                          </p:val>
                                        </p:tav>
                                        <p:tav tm="100000">
                                          <p:val>
                                            <p:strVal val="#ppt_y"/>
                                          </p:val>
                                        </p:tav>
                                      </p:tavLst>
                                    </p:anim>
                                  </p:childTnLst>
                                </p:cTn>
                              </p:par>
                              <p:par>
                                <p:cTn id="15" presetID="42" presetClass="entr" presetSubtype="0" fill="hold" grpId="0" nodeType="withEffect">
                                  <p:stCondLst>
                                    <p:cond delay="35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600"/>
                                        <p:tgtEl>
                                          <p:spTgt spid="15"/>
                                        </p:tgtEl>
                                      </p:cBhvr>
                                    </p:animEffect>
                                    <p:anim calcmode="lin" valueType="num">
                                      <p:cBhvr>
                                        <p:cTn id="18" dur="600" decel="100000" fill="hold"/>
                                        <p:tgtEl>
                                          <p:spTgt spid="15"/>
                                        </p:tgtEl>
                                        <p:attrNameLst>
                                          <p:attrName>ppt_x</p:attrName>
                                        </p:attrNameLst>
                                      </p:cBhvr>
                                      <p:tavLst>
                                        <p:tav tm="0">
                                          <p:val>
                                            <p:strVal val="#ppt_x"/>
                                          </p:val>
                                        </p:tav>
                                        <p:tav tm="100000">
                                          <p:val>
                                            <p:strVal val="#ppt_x"/>
                                          </p:val>
                                        </p:tav>
                                      </p:tavLst>
                                    </p:anim>
                                    <p:anim calcmode="lin" valueType="num">
                                      <p:cBhvr>
                                        <p:cTn id="19" dur="600" decel="100000" fill="hold"/>
                                        <p:tgtEl>
                                          <p:spTgt spid="15"/>
                                        </p:tgtEl>
                                        <p:attrNameLst>
                                          <p:attrName>ppt_y</p:attrName>
                                        </p:attrNameLst>
                                      </p:cBhvr>
                                      <p:tavLst>
                                        <p:tav tm="0">
                                          <p:val>
                                            <p:strVal val="#ppt_y+.025"/>
                                          </p:val>
                                        </p:tav>
                                        <p:tav tm="100000">
                                          <p:val>
                                            <p:strVal val="#ppt_y"/>
                                          </p:val>
                                        </p:tav>
                                      </p:tavLst>
                                    </p:anim>
                                  </p:childTnLst>
                                </p:cTn>
                              </p:par>
                              <p:par>
                                <p:cTn id="20" presetID="53" presetClass="entr" presetSubtype="16" fill="hold" grpId="0" nodeType="withEffect">
                                  <p:stCondLst>
                                    <p:cond delay="6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20"/>
                                        <p:tgtEl>
                                          <p:spTgt spid="12"/>
                                        </p:tgtEl>
                                      </p:cBhvr>
                                    </p:animEffect>
                                    <p:anim calcmode="lin" valueType="num">
                                      <p:cBhvr>
                                        <p:cTn id="23" dur="420" decel="100000" fill="hold"/>
                                        <p:tgtEl>
                                          <p:spTgt spid="12"/>
                                        </p:tgtEl>
                                        <p:attrNameLst>
                                          <p:attrName>ppt_w</p:attrName>
                                        </p:attrNameLst>
                                      </p:cBhvr>
                                      <p:tavLst>
                                        <p:tav tm="0">
                                          <p:val>
                                            <p:strVal val="#ppt_w*0.6"/>
                                          </p:val>
                                        </p:tav>
                                        <p:tav tm="100000">
                                          <p:val>
                                            <p:strVal val="#ppt_w"/>
                                          </p:val>
                                        </p:tav>
                                      </p:tavLst>
                                    </p:anim>
                                    <p:anim calcmode="lin" valueType="num">
                                      <p:cBhvr>
                                        <p:cTn id="24" dur="420" decel="100000" fill="hold"/>
                                        <p:tgtEl>
                                          <p:spTgt spid="12"/>
                                        </p:tgtEl>
                                        <p:attrNameLst>
                                          <p:attrName>ppt_h</p:attrName>
                                        </p:attrNameLst>
                                      </p:cBhvr>
                                      <p:tavLst>
                                        <p:tav tm="0">
                                          <p:val>
                                            <p:strVal val="#ppt_h*0.6"/>
                                          </p:val>
                                        </p:tav>
                                        <p:tav tm="100000">
                                          <p:val>
                                            <p:strVal val="#ppt_h"/>
                                          </p:val>
                                        </p:tav>
                                      </p:tavLst>
                                    </p:anim>
                                  </p:childTnLst>
                                </p:cTn>
                              </p:par>
                              <p:par>
                                <p:cTn id="25" presetID="10" presetClass="entr" presetSubtype="0" fill="hold" grpId="0" nodeType="withEffect">
                                  <p:stCondLst>
                                    <p:cond delay="65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53" presetClass="entr" presetSubtype="16" fill="hold" grpId="0" nodeType="withEffect">
                                  <p:stCondLst>
                                    <p:cond delay="77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20"/>
                                        <p:tgtEl>
                                          <p:spTgt spid="13"/>
                                        </p:tgtEl>
                                      </p:cBhvr>
                                    </p:animEffect>
                                    <p:anim calcmode="lin" valueType="num">
                                      <p:cBhvr>
                                        <p:cTn id="31" dur="420" decel="100000" fill="hold"/>
                                        <p:tgtEl>
                                          <p:spTgt spid="13"/>
                                        </p:tgtEl>
                                        <p:attrNameLst>
                                          <p:attrName>ppt_w</p:attrName>
                                        </p:attrNameLst>
                                      </p:cBhvr>
                                      <p:tavLst>
                                        <p:tav tm="0">
                                          <p:val>
                                            <p:strVal val="#ppt_w*0.6"/>
                                          </p:val>
                                        </p:tav>
                                        <p:tav tm="100000">
                                          <p:val>
                                            <p:strVal val="#ppt_w"/>
                                          </p:val>
                                        </p:tav>
                                      </p:tavLst>
                                    </p:anim>
                                    <p:anim calcmode="lin" valueType="num">
                                      <p:cBhvr>
                                        <p:cTn id="32" dur="420" decel="100000" fill="hold"/>
                                        <p:tgtEl>
                                          <p:spTgt spid="13"/>
                                        </p:tgtEl>
                                        <p:attrNameLst>
                                          <p:attrName>ppt_h</p:attrName>
                                        </p:attrNameLst>
                                      </p:cBhvr>
                                      <p:tavLst>
                                        <p:tav tm="0">
                                          <p:val>
                                            <p:strVal val="#ppt_h*0.6"/>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4"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ursor"/>
          <p:cNvSpPr/>
          <p:nvPr/>
        </p:nvSpPr>
        <p:spPr>
          <a:xfrm rot="5400000">
            <a:off x="182880" y="5077533"/>
            <a:ext cx="164592" cy="146304"/>
          </a:xfrm>
          <a:prstGeom prst="triangle">
            <a:avLst/>
          </a:prstGeom>
          <a:solidFill>
            <a:schemeClr val="accent1"/>
          </a:solidFill>
          <a:ln/>
        </p:spPr>
      </p:sp>
      <p:sp>
        <p:nvSpPr>
          <p:cNvPr id="3" name="!!cursorTick"/>
          <p:cNvSpPr/>
          <p:nvPr/>
        </p:nvSpPr>
        <p:spPr>
          <a:xfrm>
            <a:off x="411480" y="5150685"/>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06 / 07</a:t>
            </a:r>
            <a:endParaRPr lang="en-US" sz="1000" dirty="0"/>
          </a:p>
        </p:txBody>
      </p:sp>
      <p:sp>
        <p:nvSpPr>
          <p:cNvPr id="5" name="s6_eyebrow"/>
          <p:cNvSpPr txBox="1"/>
          <p:nvPr/>
        </p:nvSpPr>
        <p:spPr>
          <a:xfrm>
            <a:off x="868680" y="914400"/>
            <a:ext cx="34290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05 / REVIEW</a:t>
            </a:r>
            <a:endParaRPr lang="en-US" sz="1050" dirty="0"/>
          </a:p>
        </p:txBody>
      </p:sp>
      <p:sp>
        <p:nvSpPr>
          <p:cNvPr id="6" name="!!title"/>
          <p:cNvSpPr/>
          <p:nvPr>
            <p:ph idx="103" type="title" hasCustomPrompt="1"/>
          </p:nvPr>
        </p:nvSpPr>
        <p:spPr>
          <a:xfrm>
            <a:off x="868680" y="1188720"/>
            <a:ext cx="3429000" cy="1371600"/>
          </a:xfrm>
          <a:prstGeom prst="rect">
            <a:avLst/>
          </a:prstGeom>
          <a:noFill/>
          <a:ln/>
        </p:spPr>
        <p:txBody>
          <a:bodyPr wrap="square" lIns="0" tIns="0" rIns="0" bIns="0" rtlCol="0" anchor="t"/>
          <a:lstStyle/>
          <a:p>
            <a:pPr algn="l" indent="0" marL="0">
              <a:lnSpc>
                <a:spcPct val="88000"/>
              </a:lnSpc>
              <a:buNone/>
            </a:pPr>
            <a:r>
              <a:rPr lang="en-US" sz="3400" b="1" dirty="0">
                <a:solidFill>
                  <a:schemeClr val="tx1"/>
                </a:solidFill>
                <a:latin typeface="Arial Narrow" pitchFamily="34" charset="0"/>
                <a:ea typeface="Arial Narrow" pitchFamily="34" charset="-122"/>
                <a:cs typeface="Arial Narrow" pitchFamily="34" charset="-120"/>
              </a:rPr>
              <a:t>EVERY WINDOW EXPLAINS ITSELF.</a:t>
            </a:r>
            <a:endParaRPr lang="en-US" sz="3400" dirty="0"/>
          </a:p>
        </p:txBody>
      </p:sp>
      <p:grpSp>
        <p:nvGrpSpPr>
          <p:cNvPr id="28" name="s6_r1"/>
          <p:cNvGrpSpPr/>
          <p:nvPr/>
        </p:nvGrpSpPr>
        <p:grpSpPr>
          <a:xfrm>
            <a:off x="868680" y="2532888"/>
            <a:ext cx="3429000" cy="768096"/>
            <a:chOff x="868680" y="2532888"/>
            <a:chExt cx="3429000" cy="768096"/>
          </a:xfrm>
        </p:grpSpPr>
        <p:sp>
          <p:nvSpPr>
            <p:cNvPr id="7" name="m"/>
            <p:cNvSpPr/>
            <p:nvPr/>
          </p:nvSpPr>
          <p:spPr>
            <a:xfrm>
              <a:off x="868680" y="2532888"/>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1</a:t>
              </a:r>
              <a:endParaRPr lang="en-US" sz="1100" dirty="0"/>
            </a:p>
          </p:txBody>
        </p:sp>
        <p:sp>
          <p:nvSpPr>
            <p:cNvPr id="8" name="h"/>
            <p:cNvSpPr txBox="1"/>
            <p:nvPr/>
          </p:nvSpPr>
          <p:spPr>
            <a:xfrm>
              <a:off x="1280160" y="2560320"/>
              <a:ext cx="301752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IN PLAIN WORDS</a:t>
              </a:r>
              <a:endParaRPr lang="en-US" sz="1000" dirty="0"/>
            </a:p>
          </p:txBody>
        </p:sp>
        <p:sp>
          <p:nvSpPr>
            <p:cNvPr id="9" name="t"/>
            <p:cNvSpPr txBox="1"/>
            <p:nvPr/>
          </p:nvSpPr>
          <p:spPr>
            <a:xfrm>
              <a:off x="1280160" y="2825496"/>
              <a:ext cx="3017520" cy="47548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A casement window, 2 ft 6 in × 6 ft, in the 6-Car Garage.</a:t>
              </a:r>
              <a:endParaRPr lang="en-US" sz="1400" dirty="0"/>
            </a:p>
          </p:txBody>
        </p:sp>
      </p:grpSp>
      <p:grpSp>
        <p:nvGrpSpPr>
          <p:cNvPr id="29" name="s6_r2"/>
          <p:cNvGrpSpPr/>
          <p:nvPr/>
        </p:nvGrpSpPr>
        <p:grpSpPr>
          <a:xfrm>
            <a:off x="868680" y="3401568"/>
            <a:ext cx="3429000" cy="768096"/>
            <a:chOff x="868680" y="3401568"/>
            <a:chExt cx="3429000" cy="768096"/>
          </a:xfrm>
        </p:grpSpPr>
        <p:sp>
          <p:nvSpPr>
            <p:cNvPr id="10" name="m"/>
            <p:cNvSpPr/>
            <p:nvPr/>
          </p:nvSpPr>
          <p:spPr>
            <a:xfrm>
              <a:off x="868680" y="3401568"/>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2</a:t>
              </a:r>
              <a:endParaRPr lang="en-US" sz="1100" dirty="0"/>
            </a:p>
          </p:txBody>
        </p:sp>
        <p:sp>
          <p:nvSpPr>
            <p:cNvPr id="11" name="h"/>
            <p:cNvSpPr txBox="1"/>
            <p:nvPr/>
          </p:nvSpPr>
          <p:spPr>
            <a:xfrm>
              <a:off x="1280160" y="3429000"/>
              <a:ext cx="301752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THE CALLOUT, AS WRITTEN</a:t>
              </a:r>
              <a:endParaRPr lang="en-US" sz="1000" dirty="0"/>
            </a:p>
          </p:txBody>
        </p:sp>
        <p:sp>
          <p:nvSpPr>
            <p:cNvPr id="12" name="t"/>
            <p:cNvSpPr txBox="1"/>
            <p:nvPr/>
          </p:nvSpPr>
          <p:spPr>
            <a:xfrm>
              <a:off x="1280160" y="3694176"/>
              <a:ext cx="3017520" cy="47548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5 · 2'-6" × 6'-0", copied exactly from the drawing.</a:t>
              </a:r>
              <a:endParaRPr lang="en-US" sz="1400" dirty="0"/>
            </a:p>
          </p:txBody>
        </p:sp>
      </p:grpSp>
      <p:grpSp>
        <p:nvGrpSpPr>
          <p:cNvPr id="30" name="s6_r3"/>
          <p:cNvGrpSpPr/>
          <p:nvPr/>
        </p:nvGrpSpPr>
        <p:grpSpPr>
          <a:xfrm>
            <a:off x="868680" y="4270248"/>
            <a:ext cx="3429000" cy="768096"/>
            <a:chOff x="868680" y="4270248"/>
            <a:chExt cx="3429000" cy="768096"/>
          </a:xfrm>
        </p:grpSpPr>
        <p:sp>
          <p:nvSpPr>
            <p:cNvPr id="13" name="m"/>
            <p:cNvSpPr/>
            <p:nvPr/>
          </p:nvSpPr>
          <p:spPr>
            <a:xfrm>
              <a:off x="868680" y="4270248"/>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3</a:t>
              </a:r>
              <a:endParaRPr lang="en-US" sz="1100" dirty="0"/>
            </a:p>
          </p:txBody>
        </p:sp>
        <p:sp>
          <p:nvSpPr>
            <p:cNvPr id="14" name="h"/>
            <p:cNvSpPr txBox="1"/>
            <p:nvPr/>
          </p:nvSpPr>
          <p:spPr>
            <a:xfrm>
              <a:off x="1280160" y="4297680"/>
              <a:ext cx="301752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FOUND IN</a:t>
              </a:r>
              <a:endParaRPr lang="en-US" sz="1000" dirty="0"/>
            </a:p>
          </p:txBody>
        </p:sp>
        <p:sp>
          <p:nvSpPr>
            <p:cNvPr id="15" name="t"/>
            <p:cNvSpPr txBox="1"/>
            <p:nvPr/>
          </p:nvSpPr>
          <p:spPr>
            <a:xfrm>
              <a:off x="1280160" y="4562856"/>
              <a:ext cx="3017520" cy="47548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The schedule on A-4.1 (p.15) and tag 5 on A-2.1 (p.7).</a:t>
              </a:r>
              <a:endParaRPr lang="en-US" sz="1400" dirty="0"/>
            </a:p>
          </p:txBody>
        </p:sp>
      </p:grpSp>
      <p:grpSp>
        <p:nvGrpSpPr>
          <p:cNvPr id="31" name="s6_legend"/>
          <p:cNvGrpSpPr/>
          <p:nvPr/>
        </p:nvGrpSpPr>
        <p:grpSpPr>
          <a:xfrm>
            <a:off x="868680" y="5513832"/>
            <a:ext cx="3474720" cy="237744"/>
            <a:chOff x="868680" y="5513832"/>
            <a:chExt cx="3474720" cy="237744"/>
          </a:xfrm>
        </p:grpSpPr>
        <p:sp>
          <p:nvSpPr>
            <p:cNvPr id="16" name="sq0"/>
            <p:cNvSpPr/>
            <p:nvPr/>
          </p:nvSpPr>
          <p:spPr>
            <a:xfrm>
              <a:off x="868680" y="5577840"/>
              <a:ext cx="109728" cy="109728"/>
            </a:xfrm>
            <a:prstGeom prst="rect">
              <a:avLst/>
            </a:prstGeom>
            <a:solidFill>
              <a:schemeClr val="accent1"/>
            </a:solidFill>
            <a:ln/>
          </p:spPr>
        </p:sp>
        <p:sp>
          <p:nvSpPr>
            <p:cNvPr id="17" name="t0"/>
            <p:cNvSpPr txBox="1"/>
            <p:nvPr/>
          </p:nvSpPr>
          <p:spPr>
            <a:xfrm>
              <a:off x="1051560" y="5513832"/>
              <a:ext cx="96012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AI READ</a:t>
              </a:r>
              <a:endParaRPr lang="en-US" sz="1000" dirty="0"/>
            </a:p>
          </p:txBody>
        </p:sp>
        <p:sp>
          <p:nvSpPr>
            <p:cNvPr id="18" name="sq1"/>
            <p:cNvSpPr/>
            <p:nvPr/>
          </p:nvSpPr>
          <p:spPr>
            <a:xfrm>
              <a:off x="2011680" y="5577840"/>
              <a:ext cx="109728" cy="109728"/>
            </a:xfrm>
            <a:prstGeom prst="rect">
              <a:avLst/>
            </a:prstGeom>
            <a:solidFill>
              <a:schemeClr val="accent2"/>
            </a:solidFill>
            <a:ln/>
          </p:spPr>
        </p:sp>
        <p:sp>
          <p:nvSpPr>
            <p:cNvPr id="19" name="t1"/>
            <p:cNvSpPr txBox="1"/>
            <p:nvPr/>
          </p:nvSpPr>
          <p:spPr>
            <a:xfrm>
              <a:off x="2194560" y="5513832"/>
              <a:ext cx="96012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VERIFIED</a:t>
              </a:r>
              <a:endParaRPr lang="en-US" sz="1000" dirty="0"/>
            </a:p>
          </p:txBody>
        </p:sp>
        <p:sp>
          <p:nvSpPr>
            <p:cNvPr id="20" name="sq2"/>
            <p:cNvSpPr/>
            <p:nvPr/>
          </p:nvSpPr>
          <p:spPr>
            <a:xfrm>
              <a:off x="3200400" y="5577840"/>
              <a:ext cx="109728" cy="109728"/>
            </a:xfrm>
            <a:prstGeom prst="rect">
              <a:avLst/>
            </a:prstGeom>
            <a:solidFill>
              <a:schemeClr val="accent3"/>
            </a:solidFill>
            <a:ln/>
          </p:spPr>
        </p:sp>
        <p:sp>
          <p:nvSpPr>
            <p:cNvPr id="21" name="t2"/>
            <p:cNvSpPr txBox="1"/>
            <p:nvPr/>
          </p:nvSpPr>
          <p:spPr>
            <a:xfrm>
              <a:off x="3383280" y="5513832"/>
              <a:ext cx="96012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SELECTED</a:t>
              </a:r>
              <a:endParaRPr lang="en-US" sz="1000" dirty="0"/>
            </a:p>
          </p:txBody>
        </p:sp>
      </p:grpSp>
      <p:sp>
        <p:nvSpPr>
          <p:cNvPr id="22" name="!!shotframe"/>
          <p:cNvSpPr/>
          <p:nvPr/>
        </p:nvSpPr>
        <p:spPr>
          <a:xfrm>
            <a:off x="4572000" y="1143000"/>
            <a:ext cx="6766560" cy="4263390"/>
          </a:xfrm>
          <a:prstGeom prst="rect">
            <a:avLst/>
          </a:prstGeom>
          <a:solidFill>
            <a:schemeClr val="bg1"/>
          </a:solidFill>
          <a:ln w="12700">
            <a:solidFill>
              <a:schemeClr val="accent6"/>
            </a:solidFill>
            <a:prstDash val="solid"/>
          </a:ln>
          <a:effectLst>
            <a:outerShdw sx="100000" sy="100000" kx="0" ky="0" algn="bl" rotWithShape="0" blurRad="177800" dist="50800" dir="5400000">
              <a:srgbClr val="000000">
                <a:alpha val="55000"/>
              </a:srgbClr>
            </a:outerShdw>
          </a:effectLst>
        </p:spPr>
      </p:sp>
      <p:pic>
        <p:nvPicPr>
          <p:cNvPr id="23" name="!!shot" descr="WindowBid screenshot">    </p:cNvPr>
          <p:cNvPicPr>
            <a:picLocks noChangeAspect="1"/>
          </p:cNvPicPr>
          <p:nvPr/>
        </p:nvPicPr>
        <p:blipFill>
          <a:blip r:embed="rId1"/>
          <a:stretch>
            <a:fillRect/>
          </a:stretch>
        </p:blipFill>
        <p:spPr>
          <a:xfrm>
            <a:off x="4617720" y="1188720"/>
            <a:ext cx="6675120" cy="4171950"/>
          </a:xfrm>
          <a:prstGeom prst="rect">
            <a:avLst/>
          </a:prstGeom>
        </p:spPr>
      </p:pic>
      <p:sp>
        <p:nvSpPr>
          <p:cNvPr id="24" name="s6_m1"/>
          <p:cNvSpPr/>
          <p:nvPr/>
        </p:nvSpPr>
        <p:spPr>
          <a:xfrm>
            <a:off x="8513572" y="2433066"/>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1</a:t>
            </a:r>
            <a:endParaRPr lang="en-US" sz="1100" dirty="0"/>
          </a:p>
        </p:txBody>
      </p:sp>
      <p:sp>
        <p:nvSpPr>
          <p:cNvPr id="25" name="s6_m2"/>
          <p:cNvSpPr/>
          <p:nvPr/>
        </p:nvSpPr>
        <p:spPr>
          <a:xfrm>
            <a:off x="8448675" y="3934968"/>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2</a:t>
            </a:r>
            <a:endParaRPr lang="en-US" sz="1100" dirty="0"/>
          </a:p>
        </p:txBody>
      </p:sp>
      <p:sp>
        <p:nvSpPr>
          <p:cNvPr id="26" name="s6_m3"/>
          <p:cNvSpPr/>
          <p:nvPr/>
        </p:nvSpPr>
        <p:spPr>
          <a:xfrm>
            <a:off x="11067733" y="4222369"/>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3</a:t>
            </a:r>
            <a:endParaRPr lang="en-US" sz="1100" dirty="0"/>
          </a:p>
        </p:txBody>
      </p:sp>
      <p:sp>
        <p:nvSpPr>
          <p:cNvPr id="27" name="s6_cap"/>
          <p:cNvSpPr txBox="1"/>
          <p:nvPr/>
        </p:nvSpPr>
        <p:spPr>
          <a:xfrm>
            <a:off x="4617720" y="5516118"/>
            <a:ext cx="6675120" cy="237744"/>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WINDOW 5·3 SELECTED  ·  </a:t>
            </a:r>
            <a:pPr indent="0" marL="0">
              <a:buNone/>
            </a:pPr>
            <a:r>
              <a:rPr lang="en-US" sz="1000" dirty="0">
                <a:solidFill>
                  <a:schemeClr val="accent2"/>
                </a:solidFill>
                <a:latin typeface="Consolas" pitchFamily="34" charset="0"/>
                <a:ea typeface="Consolas" pitchFamily="34" charset="-122"/>
                <a:cs typeface="Consolas" pitchFamily="34" charset="-120"/>
              </a:rPr>
              <a:t>VERIFY ALL → MARK READY FOR RFQ</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600"/>
                                        <p:tgtEl>
                                          <p:spTgt spid="28"/>
                                        </p:tgtEl>
                                      </p:cBhvr>
                                    </p:animEffect>
                                    <p:anim calcmode="lin" valueType="num">
                                      <p:cBhvr>
                                        <p:cTn id="13" dur="600" decel="100000" fill="hold"/>
                                        <p:tgtEl>
                                          <p:spTgt spid="28"/>
                                        </p:tgtEl>
                                        <p:attrNameLst>
                                          <p:attrName>ppt_x</p:attrName>
                                        </p:attrNameLst>
                                      </p:cBhvr>
                                      <p:tavLst>
                                        <p:tav tm="0">
                                          <p:val>
                                            <p:strVal val="#ppt_x"/>
                                          </p:val>
                                        </p:tav>
                                        <p:tav tm="100000">
                                          <p:val>
                                            <p:strVal val="#ppt_x"/>
                                          </p:val>
                                        </p:tav>
                                      </p:tavLst>
                                    </p:anim>
                                    <p:anim calcmode="lin" valueType="num">
                                      <p:cBhvr>
                                        <p:cTn id="14" dur="600" decel="100000" fill="hold"/>
                                        <p:tgtEl>
                                          <p:spTgt spid="28"/>
                                        </p:tgtEl>
                                        <p:attrNameLst>
                                          <p:attrName>ppt_y</p:attrName>
                                        </p:attrNameLst>
                                      </p:cBhvr>
                                      <p:tavLst>
                                        <p:tav tm="0">
                                          <p:val>
                                            <p:strVal val="#ppt_y+.025"/>
                                          </p:val>
                                        </p:tav>
                                        <p:tav tm="100000">
                                          <p:val>
                                            <p:strVal val="#ppt_y"/>
                                          </p:val>
                                        </p:tav>
                                      </p:tavLst>
                                    </p:anim>
                                  </p:childTnLst>
                                </p:cTn>
                              </p:par>
                              <p:par>
                                <p:cTn id="15" presetID="53" presetClass="entr" presetSubtype="16" fill="hold" grpId="0" nodeType="withEffect">
                                  <p:stCondLst>
                                    <p:cond delay="30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20"/>
                                        <p:tgtEl>
                                          <p:spTgt spid="24"/>
                                        </p:tgtEl>
                                      </p:cBhvr>
                                    </p:animEffect>
                                    <p:anim calcmode="lin" valueType="num">
                                      <p:cBhvr>
                                        <p:cTn id="18" dur="420" decel="100000" fill="hold"/>
                                        <p:tgtEl>
                                          <p:spTgt spid="24"/>
                                        </p:tgtEl>
                                        <p:attrNameLst>
                                          <p:attrName>ppt_w</p:attrName>
                                        </p:attrNameLst>
                                      </p:cBhvr>
                                      <p:tavLst>
                                        <p:tav tm="0">
                                          <p:val>
                                            <p:strVal val="#ppt_w*0.6"/>
                                          </p:val>
                                        </p:tav>
                                        <p:tav tm="100000">
                                          <p:val>
                                            <p:strVal val="#ppt_w"/>
                                          </p:val>
                                        </p:tav>
                                      </p:tavLst>
                                    </p:anim>
                                    <p:anim calcmode="lin" valueType="num">
                                      <p:cBhvr>
                                        <p:cTn id="19" dur="420" decel="100000" fill="hold"/>
                                        <p:tgtEl>
                                          <p:spTgt spid="24"/>
                                        </p:tgtEl>
                                        <p:attrNameLst>
                                          <p:attrName>ppt_h</p:attrName>
                                        </p:attrNameLst>
                                      </p:cBhvr>
                                      <p:tavLst>
                                        <p:tav tm="0">
                                          <p:val>
                                            <p:strVal val="#ppt_h*0.6"/>
                                          </p:val>
                                        </p:tav>
                                        <p:tav tm="100000">
                                          <p:val>
                                            <p:strVal val="#ppt_h"/>
                                          </p:val>
                                        </p:tav>
                                      </p:tavLst>
                                    </p:anim>
                                  </p:childTnLst>
                                </p:cTn>
                              </p:par>
                              <p:par>
                                <p:cTn id="20" presetID="42" presetClass="entr" presetSubtype="0" fill="hold" grpId="0" nodeType="withEffect">
                                  <p:stCondLst>
                                    <p:cond delay="36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anim calcmode="lin" valueType="num">
                                      <p:cBhvr>
                                        <p:cTn id="23" dur="600" decel="100000" fill="hold"/>
                                        <p:tgtEl>
                                          <p:spTgt spid="29"/>
                                        </p:tgtEl>
                                        <p:attrNameLst>
                                          <p:attrName>ppt_x</p:attrName>
                                        </p:attrNameLst>
                                      </p:cBhvr>
                                      <p:tavLst>
                                        <p:tav tm="0">
                                          <p:val>
                                            <p:strVal val="#ppt_x"/>
                                          </p:val>
                                        </p:tav>
                                        <p:tav tm="100000">
                                          <p:val>
                                            <p:strVal val="#ppt_x"/>
                                          </p:val>
                                        </p:tav>
                                      </p:tavLst>
                                    </p:anim>
                                    <p:anim calcmode="lin" valueType="num">
                                      <p:cBhvr>
                                        <p:cTn id="24" dur="600" decel="100000" fill="hold"/>
                                        <p:tgtEl>
                                          <p:spTgt spid="29"/>
                                        </p:tgtEl>
                                        <p:attrNameLst>
                                          <p:attrName>ppt_y</p:attrName>
                                        </p:attrNameLst>
                                      </p:cBhvr>
                                      <p:tavLst>
                                        <p:tav tm="0">
                                          <p:val>
                                            <p:strVal val="#ppt_y+.025"/>
                                          </p:val>
                                        </p:tav>
                                        <p:tav tm="100000">
                                          <p:val>
                                            <p:strVal val="#ppt_y"/>
                                          </p:val>
                                        </p:tav>
                                      </p:tavLst>
                                    </p:anim>
                                  </p:childTnLst>
                                </p:cTn>
                              </p:par>
                              <p:par>
                                <p:cTn id="25" presetID="53" presetClass="entr" presetSubtype="16" fill="hold" grpId="0" nodeType="withEffect">
                                  <p:stCondLst>
                                    <p:cond delay="42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20"/>
                                        <p:tgtEl>
                                          <p:spTgt spid="25"/>
                                        </p:tgtEl>
                                      </p:cBhvr>
                                    </p:animEffect>
                                    <p:anim calcmode="lin" valueType="num">
                                      <p:cBhvr>
                                        <p:cTn id="28" dur="420" decel="100000" fill="hold"/>
                                        <p:tgtEl>
                                          <p:spTgt spid="25"/>
                                        </p:tgtEl>
                                        <p:attrNameLst>
                                          <p:attrName>ppt_w</p:attrName>
                                        </p:attrNameLst>
                                      </p:cBhvr>
                                      <p:tavLst>
                                        <p:tav tm="0">
                                          <p:val>
                                            <p:strVal val="#ppt_w*0.6"/>
                                          </p:val>
                                        </p:tav>
                                        <p:tav tm="100000">
                                          <p:val>
                                            <p:strVal val="#ppt_w"/>
                                          </p:val>
                                        </p:tav>
                                      </p:tavLst>
                                    </p:anim>
                                    <p:anim calcmode="lin" valueType="num">
                                      <p:cBhvr>
                                        <p:cTn id="29" dur="420" decel="100000" fill="hold"/>
                                        <p:tgtEl>
                                          <p:spTgt spid="25"/>
                                        </p:tgtEl>
                                        <p:attrNameLst>
                                          <p:attrName>ppt_h</p:attrName>
                                        </p:attrNameLst>
                                      </p:cBhvr>
                                      <p:tavLst>
                                        <p:tav tm="0">
                                          <p:val>
                                            <p:strVal val="#ppt_h*0.6"/>
                                          </p:val>
                                        </p:tav>
                                        <p:tav tm="100000">
                                          <p:val>
                                            <p:strVal val="#ppt_h"/>
                                          </p:val>
                                        </p:tav>
                                      </p:tavLst>
                                    </p:anim>
                                  </p:childTnLst>
                                </p:cTn>
                              </p:par>
                              <p:par>
                                <p:cTn id="30" presetID="42" presetClass="entr" presetSubtype="0" fill="hold" grpId="0" nodeType="withEffect">
                                  <p:stCondLst>
                                    <p:cond delay="48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600"/>
                                        <p:tgtEl>
                                          <p:spTgt spid="30"/>
                                        </p:tgtEl>
                                      </p:cBhvr>
                                    </p:animEffect>
                                    <p:anim calcmode="lin" valueType="num">
                                      <p:cBhvr>
                                        <p:cTn id="33" dur="600" decel="100000" fill="hold"/>
                                        <p:tgtEl>
                                          <p:spTgt spid="30"/>
                                        </p:tgtEl>
                                        <p:attrNameLst>
                                          <p:attrName>ppt_x</p:attrName>
                                        </p:attrNameLst>
                                      </p:cBhvr>
                                      <p:tavLst>
                                        <p:tav tm="0">
                                          <p:val>
                                            <p:strVal val="#ppt_x"/>
                                          </p:val>
                                        </p:tav>
                                        <p:tav tm="100000">
                                          <p:val>
                                            <p:strVal val="#ppt_x"/>
                                          </p:val>
                                        </p:tav>
                                      </p:tavLst>
                                    </p:anim>
                                    <p:anim calcmode="lin" valueType="num">
                                      <p:cBhvr>
                                        <p:cTn id="34" dur="600" decel="100000" fill="hold"/>
                                        <p:tgtEl>
                                          <p:spTgt spid="30"/>
                                        </p:tgtEl>
                                        <p:attrNameLst>
                                          <p:attrName>ppt_y</p:attrName>
                                        </p:attrNameLst>
                                      </p:cBhvr>
                                      <p:tavLst>
                                        <p:tav tm="0">
                                          <p:val>
                                            <p:strVal val="#ppt_y+.025"/>
                                          </p:val>
                                        </p:tav>
                                        <p:tav tm="100000">
                                          <p:val>
                                            <p:strVal val="#ppt_y"/>
                                          </p:val>
                                        </p:tav>
                                      </p:tavLst>
                                    </p:anim>
                                  </p:childTnLst>
                                </p:cTn>
                              </p:par>
                              <p:par>
                                <p:cTn id="35" presetID="53" presetClass="entr" presetSubtype="16" fill="hold" grpId="0" nodeType="withEffect">
                                  <p:stCondLst>
                                    <p:cond delay="54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20"/>
                                        <p:tgtEl>
                                          <p:spTgt spid="26"/>
                                        </p:tgtEl>
                                      </p:cBhvr>
                                    </p:animEffect>
                                    <p:anim calcmode="lin" valueType="num">
                                      <p:cBhvr>
                                        <p:cTn id="38" dur="420" decel="100000" fill="hold"/>
                                        <p:tgtEl>
                                          <p:spTgt spid="26"/>
                                        </p:tgtEl>
                                        <p:attrNameLst>
                                          <p:attrName>ppt_w</p:attrName>
                                        </p:attrNameLst>
                                      </p:cBhvr>
                                      <p:tavLst>
                                        <p:tav tm="0">
                                          <p:val>
                                            <p:strVal val="#ppt_w*0.6"/>
                                          </p:val>
                                        </p:tav>
                                        <p:tav tm="100000">
                                          <p:val>
                                            <p:strVal val="#ppt_w"/>
                                          </p:val>
                                        </p:tav>
                                      </p:tavLst>
                                    </p:anim>
                                    <p:anim calcmode="lin" valueType="num">
                                      <p:cBhvr>
                                        <p:cTn id="39" dur="420" decel="100000" fill="hold"/>
                                        <p:tgtEl>
                                          <p:spTgt spid="26"/>
                                        </p:tgtEl>
                                        <p:attrNameLst>
                                          <p:attrName>ppt_h</p:attrName>
                                        </p:attrNameLst>
                                      </p:cBhvr>
                                      <p:tavLst>
                                        <p:tav tm="0">
                                          <p:val>
                                            <p:strVal val="#ppt_h*0.6"/>
                                          </p:val>
                                        </p:tav>
                                        <p:tav tm="100000">
                                          <p:val>
                                            <p:strVal val="#ppt_h"/>
                                          </p:val>
                                        </p:tav>
                                      </p:tavLst>
                                    </p:anim>
                                  </p:childTnLst>
                                </p:cTn>
                              </p:par>
                              <p:par>
                                <p:cTn id="40" presetID="42" presetClass="entr" presetSubtype="0" fill="hold" grpId="0" nodeType="withEffect">
                                  <p:stCondLst>
                                    <p:cond delay="64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600"/>
                                        <p:tgtEl>
                                          <p:spTgt spid="31"/>
                                        </p:tgtEl>
                                      </p:cBhvr>
                                    </p:animEffect>
                                    <p:anim calcmode="lin" valueType="num">
                                      <p:cBhvr>
                                        <p:cTn id="43" dur="600" decel="100000" fill="hold"/>
                                        <p:tgtEl>
                                          <p:spTgt spid="31"/>
                                        </p:tgtEl>
                                        <p:attrNameLst>
                                          <p:attrName>ppt_x</p:attrName>
                                        </p:attrNameLst>
                                      </p:cBhvr>
                                      <p:tavLst>
                                        <p:tav tm="0">
                                          <p:val>
                                            <p:strVal val="#ppt_x"/>
                                          </p:val>
                                        </p:tav>
                                        <p:tav tm="100000">
                                          <p:val>
                                            <p:strVal val="#ppt_x"/>
                                          </p:val>
                                        </p:tav>
                                      </p:tavLst>
                                    </p:anim>
                                    <p:anim calcmode="lin" valueType="num">
                                      <p:cBhvr>
                                        <p:cTn id="44" dur="600" decel="100000" fill="hold"/>
                                        <p:tgtEl>
                                          <p:spTgt spid="31"/>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64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ursor"/>
          <p:cNvSpPr/>
          <p:nvPr/>
        </p:nvSpPr>
        <p:spPr>
          <a:xfrm rot="5400000">
            <a:off x="182880" y="5910943"/>
            <a:ext cx="164592" cy="146304"/>
          </a:xfrm>
          <a:prstGeom prst="triangle">
            <a:avLst/>
          </a:prstGeom>
          <a:solidFill>
            <a:schemeClr val="accent1"/>
          </a:solidFill>
          <a:ln/>
        </p:spPr>
      </p:sp>
      <p:sp>
        <p:nvSpPr>
          <p:cNvPr id="3" name="!!cursorTick"/>
          <p:cNvSpPr/>
          <p:nvPr/>
        </p:nvSpPr>
        <p:spPr>
          <a:xfrm>
            <a:off x="411480" y="5984095"/>
            <a:ext cx="219456" cy="0"/>
          </a:xfrm>
          <a:prstGeom prst="line">
            <a:avLst/>
          </a:prstGeom>
          <a:noFill/>
          <a:ln w="19050">
            <a:solidFill>
              <a:schemeClr val="accent1"/>
            </a:solidFill>
            <a:prstDash val="solid"/>
          </a:ln>
        </p:spPr>
      </p:sp>
      <p:sp>
        <p:nvSpPr>
          <p:cNvPr id="4" name="!!sheet"/>
          <p:cNvSpPr txBox="1"/>
          <p:nvPr/>
        </p:nvSpPr>
        <p:spPr>
          <a:xfrm>
            <a:off x="9037015" y="256032"/>
            <a:ext cx="2743200" cy="237744"/>
          </a:xfrm>
          <a:prstGeom prst="rect">
            <a:avLst/>
          </a:prstGeom>
          <a:noFill/>
          <a:ln/>
        </p:spPr>
        <p:txBody>
          <a:bodyPr wrap="square" lIns="0" tIns="0" rIns="0" bIns="0" rtlCol="0" anchor="b"/>
          <a:lstStyle/>
          <a:p>
            <a:pPr algn="r" indent="0" marL="0">
              <a:buNone/>
            </a:pPr>
            <a:r>
              <a:rPr lang="en-US" sz="1000" dirty="0">
                <a:solidFill>
                  <a:schemeClr val="tx2"/>
                </a:solidFill>
                <a:latin typeface="Consolas" pitchFamily="34" charset="0"/>
                <a:ea typeface="Consolas" pitchFamily="34" charset="-122"/>
                <a:cs typeface="Consolas" pitchFamily="34" charset="-120"/>
              </a:rPr>
              <a:t>SHEET 07 / 07</a:t>
            </a:r>
            <a:endParaRPr lang="en-US" sz="1000" dirty="0"/>
          </a:p>
        </p:txBody>
      </p:sp>
      <p:sp>
        <p:nvSpPr>
          <p:cNvPr id="5" name="s7_eyebrow"/>
          <p:cNvSpPr txBox="1"/>
          <p:nvPr/>
        </p:nvSpPr>
        <p:spPr>
          <a:xfrm>
            <a:off x="868680" y="914400"/>
            <a:ext cx="5486400" cy="237744"/>
          </a:xfrm>
          <a:prstGeom prst="rect">
            <a:avLst/>
          </a:prstGeom>
          <a:noFill/>
          <a:ln/>
        </p:spPr>
        <p:txBody>
          <a:bodyPr wrap="square" lIns="0" tIns="0" rIns="0" bIns="0" rtlCol="0" anchor="b"/>
          <a:lstStyle/>
          <a:p>
            <a:pPr indent="0" marL="0">
              <a:buNone/>
            </a:pPr>
            <a:r>
              <a:rPr lang="en-US" sz="1050" spc="100" kern="0" dirty="0">
                <a:solidFill>
                  <a:schemeClr val="accent1"/>
                </a:solidFill>
                <a:latin typeface="Consolas" pitchFamily="34" charset="0"/>
                <a:ea typeface="Consolas" pitchFamily="34" charset="-122"/>
                <a:cs typeface="Consolas" pitchFamily="34" charset="-120"/>
              </a:rPr>
              <a:t>06 / RESULTS</a:t>
            </a:r>
            <a:endParaRPr lang="en-US" sz="1050" dirty="0"/>
          </a:p>
        </p:txBody>
      </p:sp>
      <p:sp>
        <p:nvSpPr>
          <p:cNvPr id="6" name="!!title"/>
          <p:cNvSpPr/>
          <p:nvPr>
            <p:ph idx="103" type="title" hasCustomPrompt="1"/>
          </p:nvPr>
        </p:nvSpPr>
        <p:spPr>
          <a:xfrm>
            <a:off x="868680" y="1188720"/>
            <a:ext cx="10424160" cy="731520"/>
          </a:xfrm>
          <a:prstGeom prst="rect">
            <a:avLst/>
          </a:prstGeom>
          <a:noFill/>
          <a:ln/>
        </p:spPr>
        <p:txBody>
          <a:bodyPr wrap="square" lIns="0" tIns="0" rIns="0" bIns="0" rtlCol="0" anchor="t"/>
          <a:lstStyle/>
          <a:p>
            <a:pPr algn="l" indent="0" marL="0">
              <a:lnSpc>
                <a:spcPct val="88000"/>
              </a:lnSpc>
              <a:buNone/>
            </a:pPr>
            <a:r>
              <a:rPr lang="en-US" sz="4000" b="1" dirty="0">
                <a:solidFill>
                  <a:schemeClr val="tx1"/>
                </a:solidFill>
                <a:latin typeface="Arial Narrow" pitchFamily="34" charset="0"/>
                <a:ea typeface="Arial Narrow" pitchFamily="34" charset="-122"/>
                <a:cs typeface="Arial Narrow" pitchFamily="34" charset="-120"/>
              </a:rPr>
              <a:t>TESTED ON REAL DRAWING SETS.</a:t>
            </a:r>
            <a:endParaRPr lang="en-US" sz="4000" dirty="0"/>
          </a:p>
        </p:txBody>
      </p:sp>
      <p:sp>
        <p:nvSpPr>
          <p:cNvPr id="7" name="s7_grid"/>
          <p:cNvSpPr/>
          <p:nvPr/>
        </p:nvSpPr>
        <p:spPr>
          <a:xfrm>
            <a:off x="868680" y="2240280"/>
            <a:ext cx="10424160" cy="2743200"/>
          </a:xfrm>
          <a:prstGeom prst="rect">
            <a:avLst/>
          </a:prstGeom>
          <a:solidFill>
            <a:schemeClr val="bg2"/>
          </a:solidFill>
          <a:ln w="12700">
            <a:solidFill>
              <a:schemeClr val="accent6"/>
            </a:solidFill>
            <a:prstDash val="solid"/>
          </a:ln>
        </p:spPr>
      </p:sp>
      <p:sp>
        <p:nvSpPr>
          <p:cNvPr id="8" name="s7_div1"/>
          <p:cNvSpPr/>
          <p:nvPr/>
        </p:nvSpPr>
        <p:spPr>
          <a:xfrm>
            <a:off x="4343400" y="2240280"/>
            <a:ext cx="0" cy="2743200"/>
          </a:xfrm>
          <a:prstGeom prst="line">
            <a:avLst/>
          </a:prstGeom>
          <a:noFill/>
          <a:ln w="12700">
            <a:solidFill>
              <a:schemeClr val="accent6"/>
            </a:solidFill>
            <a:prstDash val="solid"/>
          </a:ln>
        </p:spPr>
      </p:sp>
      <p:sp>
        <p:nvSpPr>
          <p:cNvPr id="9" name="s7_div2"/>
          <p:cNvSpPr/>
          <p:nvPr/>
        </p:nvSpPr>
        <p:spPr>
          <a:xfrm>
            <a:off x="7818120" y="2240280"/>
            <a:ext cx="0" cy="2743200"/>
          </a:xfrm>
          <a:prstGeom prst="line">
            <a:avLst/>
          </a:prstGeom>
          <a:noFill/>
          <a:ln w="12700">
            <a:solidFill>
              <a:schemeClr val="accent6"/>
            </a:solidFill>
            <a:prstDash val="solid"/>
          </a:ln>
        </p:spPr>
      </p:sp>
      <p:grpSp>
        <p:nvGrpSpPr>
          <p:cNvPr id="31" name="s7_c1"/>
          <p:cNvGrpSpPr/>
          <p:nvPr/>
        </p:nvGrpSpPr>
        <p:grpSpPr>
          <a:xfrm>
            <a:off x="1143000" y="2496312"/>
            <a:ext cx="2926080" cy="2240280"/>
            <a:chOff x="1143000" y="2496312"/>
            <a:chExt cx="2926080" cy="2240280"/>
          </a:xfrm>
        </p:grpSpPr>
        <p:sp>
          <p:nvSpPr>
            <p:cNvPr id="10" name="lab"/>
            <p:cNvSpPr txBox="1"/>
            <p:nvPr/>
          </p:nvSpPr>
          <p:spPr>
            <a:xfrm>
              <a:off x="1143000" y="2496312"/>
              <a:ext cx="2926080" cy="237744"/>
            </a:xfrm>
            <a:prstGeom prst="rect">
              <a:avLst/>
            </a:prstGeom>
            <a:noFill/>
            <a:ln/>
          </p:spPr>
          <p:txBody>
            <a:bodyPr wrap="square" lIns="0" tIns="0" rIns="0" bIns="0" rtlCol="0" anchor="ctr"/>
            <a:lstStyle/>
            <a:p>
              <a:pPr indent="0" marL="0">
                <a:buNone/>
              </a:pPr>
              <a:r>
                <a:rPr lang="en-US" sz="1000" dirty="0">
                  <a:solidFill>
                    <a:schemeClr val="accent1"/>
                  </a:solidFill>
                  <a:latin typeface="Consolas" pitchFamily="34" charset="0"/>
                  <a:ea typeface="Consolas" pitchFamily="34" charset="-122"/>
                  <a:cs typeface="Consolas" pitchFamily="34" charset="-120"/>
                </a:rPr>
                <a:t>37TH PLACE · 31 PAGES</a:t>
              </a:r>
              <a:endParaRPr lang="en-US" sz="1000" dirty="0"/>
            </a:p>
          </p:txBody>
        </p:sp>
        <p:sp>
          <p:nvSpPr>
            <p:cNvPr id="11" name="big"/>
            <p:cNvSpPr txBox="1"/>
            <p:nvPr/>
          </p:nvSpPr>
          <p:spPr>
            <a:xfrm>
              <a:off x="1143000" y="2807208"/>
              <a:ext cx="2926080" cy="777240"/>
            </a:xfrm>
            <a:prstGeom prst="rect">
              <a:avLst/>
            </a:prstGeom>
            <a:noFill/>
            <a:ln/>
          </p:spPr>
          <p:txBody>
            <a:bodyPr wrap="square" lIns="0" tIns="0" rIns="0" bIns="0" rtlCol="0" anchor="t"/>
            <a:lstStyle/>
            <a:p>
              <a:pPr indent="0" marL="0">
                <a:buNone/>
              </a:pPr>
              <a:r>
                <a:rPr lang="en-US" sz="5400" b="1" dirty="0">
                  <a:solidFill>
                    <a:schemeClr val="tx1"/>
                  </a:solidFill>
                  <a:latin typeface="Arial Narrow" pitchFamily="34" charset="0"/>
                  <a:ea typeface="Arial Narrow" pitchFamily="34" charset="-122"/>
                  <a:cs typeface="Arial Narrow" pitchFamily="34" charset="-120"/>
                </a:rPr>
                <a:t>65/65</a:t>
              </a:r>
              <a:endParaRPr lang="en-US" sz="5400" dirty="0"/>
            </a:p>
          </p:txBody>
        </p:sp>
        <p:sp>
          <p:nvSpPr>
            <p:cNvPr id="12" name="sub"/>
            <p:cNvSpPr txBox="1"/>
            <p:nvPr/>
          </p:nvSpPr>
          <p:spPr>
            <a:xfrm>
              <a:off x="1143000" y="3611880"/>
              <a:ext cx="292608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WINDOWS · 12 PRODUCTS</a:t>
              </a:r>
              <a:endParaRPr lang="en-US" sz="1000" dirty="0"/>
            </a:p>
          </p:txBody>
        </p:sp>
        <p:sp>
          <p:nvSpPr>
            <p:cNvPr id="13" name="body"/>
            <p:cNvSpPr txBox="1"/>
            <p:nvPr/>
          </p:nvSpPr>
          <p:spPr>
            <a:xfrm>
              <a:off x="1143000" y="3959352"/>
              <a:ext cx="2926080"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Read from the schedule in about a minute, matching it exactly. All 65 then placed on plan A-2.1.</a:t>
              </a:r>
              <a:endParaRPr lang="en-US" sz="1400" dirty="0"/>
            </a:p>
          </p:txBody>
        </p:sp>
      </p:grpSp>
      <p:grpSp>
        <p:nvGrpSpPr>
          <p:cNvPr id="32" name="s7_c2"/>
          <p:cNvGrpSpPr/>
          <p:nvPr/>
        </p:nvGrpSpPr>
        <p:grpSpPr>
          <a:xfrm>
            <a:off x="4617720" y="2496312"/>
            <a:ext cx="2926080" cy="2240280"/>
            <a:chOff x="4617720" y="2496312"/>
            <a:chExt cx="2926080" cy="2240280"/>
          </a:xfrm>
        </p:grpSpPr>
        <p:sp>
          <p:nvSpPr>
            <p:cNvPr id="14" name="lab"/>
            <p:cNvSpPr txBox="1"/>
            <p:nvPr/>
          </p:nvSpPr>
          <p:spPr>
            <a:xfrm>
              <a:off x="4617720" y="2496312"/>
              <a:ext cx="2926080" cy="237744"/>
            </a:xfrm>
            <a:prstGeom prst="rect">
              <a:avLst/>
            </a:prstGeom>
            <a:noFill/>
            <a:ln/>
          </p:spPr>
          <p:txBody>
            <a:bodyPr wrap="square" lIns="0" tIns="0" rIns="0" bIns="0" rtlCol="0" anchor="ctr"/>
            <a:lstStyle/>
            <a:p>
              <a:pPr indent="0" marL="0">
                <a:buNone/>
              </a:pPr>
              <a:r>
                <a:rPr lang="en-US" sz="1000" dirty="0">
                  <a:solidFill>
                    <a:schemeClr val="accent1"/>
                  </a:solidFill>
                  <a:latin typeface="Consolas" pitchFamily="34" charset="0"/>
                  <a:ea typeface="Consolas" pitchFamily="34" charset="-122"/>
                  <a:cs typeface="Consolas" pitchFamily="34" charset="-120"/>
                </a:rPr>
                <a:t>8887-25 · 30 PAGES</a:t>
              </a:r>
              <a:endParaRPr lang="en-US" sz="1000" dirty="0"/>
            </a:p>
          </p:txBody>
        </p:sp>
        <p:sp>
          <p:nvSpPr>
            <p:cNvPr id="15" name="big"/>
            <p:cNvSpPr txBox="1"/>
            <p:nvPr/>
          </p:nvSpPr>
          <p:spPr>
            <a:xfrm>
              <a:off x="4617720" y="2807208"/>
              <a:ext cx="2926080" cy="777240"/>
            </a:xfrm>
            <a:prstGeom prst="rect">
              <a:avLst/>
            </a:prstGeom>
            <a:noFill/>
            <a:ln/>
          </p:spPr>
          <p:txBody>
            <a:bodyPr wrap="square" lIns="0" tIns="0" rIns="0" bIns="0" rtlCol="0" anchor="t"/>
            <a:lstStyle/>
            <a:p>
              <a:pPr indent="0" marL="0">
                <a:buNone/>
              </a:pPr>
              <a:r>
                <a:rPr lang="en-US" sz="5400" b="1" dirty="0">
                  <a:solidFill>
                    <a:schemeClr val="tx1"/>
                  </a:solidFill>
                  <a:latin typeface="Arial Narrow" pitchFamily="34" charset="0"/>
                  <a:ea typeface="Arial Narrow" pitchFamily="34" charset="-122"/>
                  <a:cs typeface="Arial Narrow" pitchFamily="34" charset="-120"/>
                </a:rPr>
                <a:t>78</a:t>
              </a:r>
              <a:endParaRPr lang="en-US" sz="5400" dirty="0"/>
            </a:p>
          </p:txBody>
        </p:sp>
        <p:sp>
          <p:nvSpPr>
            <p:cNvPr id="16" name="sub"/>
            <p:cNvSpPr txBox="1"/>
            <p:nvPr/>
          </p:nvSpPr>
          <p:spPr>
            <a:xfrm>
              <a:off x="4617720" y="3611880"/>
              <a:ext cx="292608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WINDOWS · 15 PRODUCTS</a:t>
              </a:r>
              <a:endParaRPr lang="en-US" sz="1000" dirty="0"/>
            </a:p>
          </p:txBody>
        </p:sp>
        <p:sp>
          <p:nvSpPr>
            <p:cNvPr id="17" name="body"/>
            <p:cNvSpPr txBox="1"/>
            <p:nvPr/>
          </p:nvSpPr>
          <p:spPr>
            <a:xfrm>
              <a:off x="4617720" y="3959352"/>
              <a:ext cx="2926080"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Two copies of the schedule, counted once, not doubled. 70 of 78 then placed on the plans.</a:t>
              </a:r>
              <a:endParaRPr lang="en-US" sz="1400" dirty="0"/>
            </a:p>
          </p:txBody>
        </p:sp>
      </p:grpSp>
      <p:grpSp>
        <p:nvGrpSpPr>
          <p:cNvPr id="33" name="s7_c3"/>
          <p:cNvGrpSpPr/>
          <p:nvPr/>
        </p:nvGrpSpPr>
        <p:grpSpPr>
          <a:xfrm>
            <a:off x="8092440" y="2496312"/>
            <a:ext cx="2926080" cy="2240280"/>
            <a:chOff x="8092440" y="2496312"/>
            <a:chExt cx="2926080" cy="2240280"/>
          </a:xfrm>
        </p:grpSpPr>
        <p:sp>
          <p:nvSpPr>
            <p:cNvPr id="18" name="lab"/>
            <p:cNvSpPr txBox="1"/>
            <p:nvPr/>
          </p:nvSpPr>
          <p:spPr>
            <a:xfrm>
              <a:off x="8092440" y="2496312"/>
              <a:ext cx="2926080" cy="237744"/>
            </a:xfrm>
            <a:prstGeom prst="rect">
              <a:avLst/>
            </a:prstGeom>
            <a:noFill/>
            <a:ln/>
          </p:spPr>
          <p:txBody>
            <a:bodyPr wrap="square" lIns="0" tIns="0" rIns="0" bIns="0" rtlCol="0" anchor="ctr"/>
            <a:lstStyle/>
            <a:p>
              <a:pPr indent="0" marL="0">
                <a:buNone/>
              </a:pPr>
              <a:r>
                <a:rPr lang="en-US" sz="1000" dirty="0">
                  <a:solidFill>
                    <a:schemeClr val="accent1"/>
                  </a:solidFill>
                  <a:latin typeface="Consolas" pitchFamily="34" charset="0"/>
                  <a:ea typeface="Consolas" pitchFamily="34" charset="-122"/>
                  <a:cs typeface="Consolas" pitchFamily="34" charset="-120"/>
                </a:rPr>
                <a:t>RC-MAHESH · 1 SHEET</a:t>
              </a:r>
              <a:endParaRPr lang="en-US" sz="1000" dirty="0"/>
            </a:p>
          </p:txBody>
        </p:sp>
        <p:sp>
          <p:nvSpPr>
            <p:cNvPr id="19" name="big"/>
            <p:cNvSpPr txBox="1"/>
            <p:nvPr/>
          </p:nvSpPr>
          <p:spPr>
            <a:xfrm>
              <a:off x="8092440" y="2807208"/>
              <a:ext cx="2926080" cy="777240"/>
            </a:xfrm>
            <a:prstGeom prst="rect">
              <a:avLst/>
            </a:prstGeom>
            <a:noFill/>
            <a:ln/>
          </p:spPr>
          <p:txBody>
            <a:bodyPr wrap="square" lIns="0" tIns="0" rIns="0" bIns="0" rtlCol="0" anchor="t"/>
            <a:lstStyle/>
            <a:p>
              <a:pPr indent="0" marL="0">
                <a:buNone/>
              </a:pPr>
              <a:r>
                <a:rPr lang="en-US" sz="5400" b="1" dirty="0">
                  <a:solidFill>
                    <a:schemeClr val="tx1"/>
                  </a:solidFill>
                  <a:latin typeface="Arial Narrow" pitchFamily="34" charset="0"/>
                  <a:ea typeface="Arial Narrow" pitchFamily="34" charset="-122"/>
                  <a:cs typeface="Arial Narrow" pitchFamily="34" charset="-120"/>
                </a:rPr>
                <a:t>24/25</a:t>
              </a:r>
              <a:endParaRPr lang="en-US" sz="5400" dirty="0"/>
            </a:p>
          </p:txBody>
        </p:sp>
        <p:sp>
          <p:nvSpPr>
            <p:cNvPr id="20" name="sub"/>
            <p:cNvSpPr txBox="1"/>
            <p:nvPr/>
          </p:nvSpPr>
          <p:spPr>
            <a:xfrm>
              <a:off x="8092440" y="3611880"/>
              <a:ext cx="2926080" cy="237744"/>
            </a:xfrm>
            <a:prstGeom prst="rect">
              <a:avLst/>
            </a:prstGeom>
            <a:noFill/>
            <a:ln/>
          </p:spPr>
          <p:txBody>
            <a:bodyPr wrap="square" lIns="0" tIns="0" rIns="0" bIns="0" rtlCol="0" anchor="ctr"/>
            <a:lstStyle/>
            <a:p>
              <a:pPr indent="0" marL="0">
                <a:buNone/>
              </a:pPr>
              <a:r>
                <a:rPr lang="en-US" sz="1000" dirty="0">
                  <a:solidFill>
                    <a:schemeClr val="tx1"/>
                  </a:solidFill>
                  <a:latin typeface="Consolas" pitchFamily="34" charset="0"/>
                  <a:ea typeface="Consolas" pitchFamily="34" charset="-122"/>
                  <a:cs typeface="Consolas" pitchFamily="34" charset="-120"/>
                </a:rPr>
                <a:t>WINDOW SIZES EXACT</a:t>
              </a:r>
              <a:endParaRPr lang="en-US" sz="1000" dirty="0"/>
            </a:p>
          </p:txBody>
        </p:sp>
        <p:sp>
          <p:nvSpPr>
            <p:cNvPr id="21" name="body"/>
            <p:cNvSpPr txBox="1"/>
            <p:nvPr/>
          </p:nvSpPr>
          <p:spPr>
            <a:xfrm>
              <a:off x="8092440" y="3959352"/>
              <a:ext cx="2926080"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No schedule at all: sizes read from plan notes like "2650 SH", and untagged openings explained.</a:t>
              </a:r>
              <a:endParaRPr lang="en-US" sz="1400" dirty="0"/>
            </a:p>
          </p:txBody>
        </p:sp>
      </p:grpSp>
      <p:grpSp>
        <p:nvGrpSpPr>
          <p:cNvPr id="34" name="s7_next"/>
          <p:cNvGrpSpPr/>
          <p:nvPr/>
        </p:nvGrpSpPr>
        <p:grpSpPr>
          <a:xfrm>
            <a:off x="868680" y="5285232"/>
            <a:ext cx="10287000" cy="713232"/>
            <a:chOff x="868680" y="5285232"/>
            <a:chExt cx="10287000" cy="713232"/>
          </a:xfrm>
        </p:grpSpPr>
        <p:sp>
          <p:nvSpPr>
            <p:cNvPr id="22" name="lab"/>
            <p:cNvSpPr txBox="1"/>
            <p:nvPr/>
          </p:nvSpPr>
          <p:spPr>
            <a:xfrm>
              <a:off x="868680" y="5285232"/>
              <a:ext cx="1554480" cy="237744"/>
            </a:xfrm>
            <a:prstGeom prst="rect">
              <a:avLst/>
            </a:prstGeom>
            <a:noFill/>
            <a:ln/>
          </p:spPr>
          <p:txBody>
            <a:bodyPr wrap="square" lIns="0" tIns="0" rIns="0" bIns="0" rtlCol="0" anchor="ctr"/>
            <a:lstStyle/>
            <a:p>
              <a:pPr indent="0" marL="0">
                <a:buNone/>
              </a:pPr>
              <a:r>
                <a:rPr lang="en-US" sz="1000" dirty="0">
                  <a:solidFill>
                    <a:schemeClr val="accent1"/>
                  </a:solidFill>
                  <a:latin typeface="Consolas" pitchFamily="34" charset="0"/>
                  <a:ea typeface="Consolas" pitchFamily="34" charset="-122"/>
                  <a:cs typeface="Consolas" pitchFamily="34" charset="-120"/>
                </a:rPr>
                <a:t>WHAT'S NEXT</a:t>
              </a:r>
              <a:endParaRPr lang="en-US" sz="1000" dirty="0"/>
            </a:p>
          </p:txBody>
        </p:sp>
        <p:sp>
          <p:nvSpPr>
            <p:cNvPr id="23" name="n0"/>
            <p:cNvSpPr txBox="1"/>
            <p:nvPr/>
          </p:nvSpPr>
          <p:spPr>
            <a:xfrm>
              <a:off x="2514600" y="5285232"/>
              <a:ext cx="548640" cy="237744"/>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01</a:t>
              </a:r>
              <a:endParaRPr lang="en-US" sz="1000" dirty="0"/>
            </a:p>
          </p:txBody>
        </p:sp>
        <p:sp>
          <p:nvSpPr>
            <p:cNvPr id="24" name="t0"/>
            <p:cNvSpPr txBox="1"/>
            <p:nvPr/>
          </p:nvSpPr>
          <p:spPr>
            <a:xfrm>
              <a:off x="2514600" y="5541264"/>
              <a:ext cx="2057400" cy="4572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Client, dealer and manufacturer accounts</a:t>
              </a:r>
              <a:endParaRPr lang="en-US" sz="1400" dirty="0"/>
            </a:p>
          </p:txBody>
        </p:sp>
        <p:sp>
          <p:nvSpPr>
            <p:cNvPr id="25" name="n1"/>
            <p:cNvSpPr txBox="1"/>
            <p:nvPr/>
          </p:nvSpPr>
          <p:spPr>
            <a:xfrm>
              <a:off x="4709160" y="5285232"/>
              <a:ext cx="548640" cy="237744"/>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02</a:t>
              </a:r>
              <a:endParaRPr lang="en-US" sz="1000" dirty="0"/>
            </a:p>
          </p:txBody>
        </p:sp>
        <p:sp>
          <p:nvSpPr>
            <p:cNvPr id="26" name="t1"/>
            <p:cNvSpPr txBox="1"/>
            <p:nvPr/>
          </p:nvSpPr>
          <p:spPr>
            <a:xfrm>
              <a:off x="4709160" y="5541264"/>
              <a:ext cx="2057400" cy="4572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Real manufacturer bids</a:t>
              </a:r>
              <a:endParaRPr lang="en-US" sz="1400" dirty="0"/>
            </a:p>
          </p:txBody>
        </p:sp>
        <p:sp>
          <p:nvSpPr>
            <p:cNvPr id="27" name="n2"/>
            <p:cNvSpPr txBox="1"/>
            <p:nvPr/>
          </p:nvSpPr>
          <p:spPr>
            <a:xfrm>
              <a:off x="6903720" y="5285232"/>
              <a:ext cx="548640" cy="237744"/>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03</a:t>
              </a:r>
              <a:endParaRPr lang="en-US" sz="1000" dirty="0"/>
            </a:p>
          </p:txBody>
        </p:sp>
        <p:sp>
          <p:nvSpPr>
            <p:cNvPr id="28" name="t2"/>
            <p:cNvSpPr txBox="1"/>
            <p:nvPr/>
          </p:nvSpPr>
          <p:spPr>
            <a:xfrm>
              <a:off x="6903720" y="5541264"/>
              <a:ext cx="2057400" cy="4572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Signature and PO acknowledgement</a:t>
              </a:r>
              <a:endParaRPr lang="en-US" sz="1400" dirty="0"/>
            </a:p>
          </p:txBody>
        </p:sp>
        <p:sp>
          <p:nvSpPr>
            <p:cNvPr id="29" name="n3"/>
            <p:cNvSpPr txBox="1"/>
            <p:nvPr/>
          </p:nvSpPr>
          <p:spPr>
            <a:xfrm>
              <a:off x="9098280" y="5285232"/>
              <a:ext cx="548640" cy="237744"/>
            </a:xfrm>
            <a:prstGeom prst="rect">
              <a:avLst/>
            </a:prstGeom>
            <a:noFill/>
            <a:ln/>
          </p:spPr>
          <p:txBody>
            <a:bodyPr wrap="square" lIns="0" tIns="0" rIns="0" bIns="0" rtlCol="0" anchor="ctr"/>
            <a:lstStyle/>
            <a:p>
              <a:pPr indent="0" marL="0">
                <a:buNone/>
              </a:pPr>
              <a:r>
                <a:rPr lang="en-US" sz="1000" dirty="0">
                  <a:solidFill>
                    <a:schemeClr val="accent5"/>
                  </a:solidFill>
                  <a:latin typeface="Consolas" pitchFamily="34" charset="0"/>
                  <a:ea typeface="Consolas" pitchFamily="34" charset="-122"/>
                  <a:cs typeface="Consolas" pitchFamily="34" charset="-120"/>
                </a:rPr>
                <a:t>04</a:t>
              </a:r>
              <a:endParaRPr lang="en-US" sz="1000" dirty="0"/>
            </a:p>
          </p:txBody>
        </p:sp>
        <p:sp>
          <p:nvSpPr>
            <p:cNvPr id="30" name="t3"/>
            <p:cNvSpPr txBox="1"/>
            <p:nvPr/>
          </p:nvSpPr>
          <p:spPr>
            <a:xfrm>
              <a:off x="9098280" y="5541264"/>
              <a:ext cx="2057400" cy="4572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Always-on hosting</a:t>
              </a:r>
              <a:endParaRPr lang="en-US" sz="1400" dirty="0"/>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decel="1000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25"/>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600"/>
                                        <p:tgtEl>
                                          <p:spTgt spid="31"/>
                                        </p:tgtEl>
                                      </p:cBhvr>
                                    </p:animEffect>
                                    <p:anim calcmode="lin" valueType="num">
                                      <p:cBhvr>
                                        <p:cTn id="13" dur="600" decel="100000" fill="hold"/>
                                        <p:tgtEl>
                                          <p:spTgt spid="31"/>
                                        </p:tgtEl>
                                        <p:attrNameLst>
                                          <p:attrName>ppt_x</p:attrName>
                                        </p:attrNameLst>
                                      </p:cBhvr>
                                      <p:tavLst>
                                        <p:tav tm="0">
                                          <p:val>
                                            <p:strVal val="#ppt_x"/>
                                          </p:val>
                                        </p:tav>
                                        <p:tav tm="100000">
                                          <p:val>
                                            <p:strVal val="#ppt_x"/>
                                          </p:val>
                                        </p:tav>
                                      </p:tavLst>
                                    </p:anim>
                                    <p:anim calcmode="lin" valueType="num">
                                      <p:cBhvr>
                                        <p:cTn id="14" dur="600" decel="100000" fill="hold"/>
                                        <p:tgtEl>
                                          <p:spTgt spid="31"/>
                                        </p:tgtEl>
                                        <p:attrNameLst>
                                          <p:attrName>ppt_y</p:attrName>
                                        </p:attrNameLst>
                                      </p:cBhvr>
                                      <p:tavLst>
                                        <p:tav tm="0">
                                          <p:val>
                                            <p:strVal val="#ppt_y+.025"/>
                                          </p:val>
                                        </p:tav>
                                        <p:tav tm="100000">
                                          <p:val>
                                            <p:strVal val="#ppt_y"/>
                                          </p:val>
                                        </p:tav>
                                      </p:tavLst>
                                    </p:anim>
                                  </p:childTnLst>
                                </p:cTn>
                              </p:par>
                              <p:par>
                                <p:cTn id="15" presetID="42" presetClass="entr" presetSubtype="0" fill="hold" grpId="0" nodeType="withEffect">
                                  <p:stCondLst>
                                    <p:cond delay="34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600"/>
                                        <p:tgtEl>
                                          <p:spTgt spid="32"/>
                                        </p:tgtEl>
                                      </p:cBhvr>
                                    </p:animEffect>
                                    <p:anim calcmode="lin" valueType="num">
                                      <p:cBhvr>
                                        <p:cTn id="18" dur="600" decel="100000" fill="hold"/>
                                        <p:tgtEl>
                                          <p:spTgt spid="32"/>
                                        </p:tgtEl>
                                        <p:attrNameLst>
                                          <p:attrName>ppt_x</p:attrName>
                                        </p:attrNameLst>
                                      </p:cBhvr>
                                      <p:tavLst>
                                        <p:tav tm="0">
                                          <p:val>
                                            <p:strVal val="#ppt_x"/>
                                          </p:val>
                                        </p:tav>
                                        <p:tav tm="100000">
                                          <p:val>
                                            <p:strVal val="#ppt_x"/>
                                          </p:val>
                                        </p:tav>
                                      </p:tavLst>
                                    </p:anim>
                                    <p:anim calcmode="lin" valueType="num">
                                      <p:cBhvr>
                                        <p:cTn id="19" dur="600" decel="100000" fill="hold"/>
                                        <p:tgtEl>
                                          <p:spTgt spid="32"/>
                                        </p:tgtEl>
                                        <p:attrNameLst>
                                          <p:attrName>ppt_y</p:attrName>
                                        </p:attrNameLst>
                                      </p:cBhvr>
                                      <p:tavLst>
                                        <p:tav tm="0">
                                          <p:val>
                                            <p:strVal val="#ppt_y+.025"/>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600"/>
                                        <p:tgtEl>
                                          <p:spTgt spid="33"/>
                                        </p:tgtEl>
                                      </p:cBhvr>
                                    </p:animEffect>
                                    <p:anim calcmode="lin" valueType="num">
                                      <p:cBhvr>
                                        <p:cTn id="23" dur="600" decel="100000" fill="hold"/>
                                        <p:tgtEl>
                                          <p:spTgt spid="33"/>
                                        </p:tgtEl>
                                        <p:attrNameLst>
                                          <p:attrName>ppt_x</p:attrName>
                                        </p:attrNameLst>
                                      </p:cBhvr>
                                      <p:tavLst>
                                        <p:tav tm="0">
                                          <p:val>
                                            <p:strVal val="#ppt_x"/>
                                          </p:val>
                                        </p:tav>
                                        <p:tav tm="100000">
                                          <p:val>
                                            <p:strVal val="#ppt_x"/>
                                          </p:val>
                                        </p:tav>
                                      </p:tavLst>
                                    </p:anim>
                                    <p:anim calcmode="lin" valueType="num">
                                      <p:cBhvr>
                                        <p:cTn id="24" dur="600" decel="100000" fill="hold"/>
                                        <p:tgtEl>
                                          <p:spTgt spid="33"/>
                                        </p:tgtEl>
                                        <p:attrNameLst>
                                          <p:attrName>ppt_y</p:attrName>
                                        </p:attrNameLst>
                                      </p:cBhvr>
                                      <p:tavLst>
                                        <p:tav tm="0">
                                          <p:val>
                                            <p:strVal val="#ppt_y+.025"/>
                                          </p:val>
                                        </p:tav>
                                        <p:tav tm="100000">
                                          <p:val>
                                            <p:strVal val="#ppt_y"/>
                                          </p:val>
                                        </p:tav>
                                      </p:tavLst>
                                    </p:anim>
                                  </p:childTnLst>
                                </p:cTn>
                              </p:par>
                              <p:par>
                                <p:cTn id="25" presetID="42" presetClass="entr" presetSubtype="0" fill="hold" grpId="0" nodeType="withEffect">
                                  <p:stCondLst>
                                    <p:cond delay="60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600"/>
                                        <p:tgtEl>
                                          <p:spTgt spid="34"/>
                                        </p:tgtEl>
                                      </p:cBhvr>
                                    </p:animEffect>
                                    <p:anim calcmode="lin" valueType="num">
                                      <p:cBhvr>
                                        <p:cTn id="28" dur="600" decel="100000" fill="hold"/>
                                        <p:tgtEl>
                                          <p:spTgt spid="34"/>
                                        </p:tgtEl>
                                        <p:attrNameLst>
                                          <p:attrName>ppt_x</p:attrName>
                                        </p:attrNameLst>
                                      </p:cBhvr>
                                      <p:tavLst>
                                        <p:tav tm="0">
                                          <p:val>
                                            <p:strVal val="#ppt_x"/>
                                          </p:val>
                                        </p:tav>
                                        <p:tav tm="100000">
                                          <p:val>
                                            <p:strVal val="#ppt_x"/>
                                          </p:val>
                                        </p:tav>
                                      </p:tavLst>
                                    </p:anim>
                                    <p:anim calcmode="lin" valueType="num">
                                      <p:cBhvr>
                                        <p:cTn id="29" dur="600" decel="100000" fill="hold"/>
                                        <p:tgtEl>
                                          <p:spTgt spid="3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qBotica WindowBid">
  <a:themeElements>
    <a:clrScheme name="qBotica WindowBid">
      <a:dk1>
        <a:srgbClr val="E8E6DA"/>
      </a:dk1>
      <a:lt1>
        <a:srgbClr val="1A1A18"/>
      </a:lt1>
      <a:dk2>
        <a:srgbClr val="B5B3A8"/>
      </a:dk2>
      <a:lt2>
        <a:srgbClr val="232320"/>
      </a:lt2>
      <a:accent1>
        <a:srgbClr val="FF7805"/>
      </a:accent1>
      <a:accent2>
        <a:srgbClr val="86B29B"/>
      </a:accent2>
      <a:accent3>
        <a:srgbClr val="6E9BEA"/>
      </a:accent3>
      <a:accent4>
        <a:srgbClr val="2E6B57"/>
      </a:accent4>
      <a:accent5>
        <a:srgbClr val="85847C"/>
      </a:accent5>
      <a:accent6>
        <a:srgbClr val="3E3E3A"/>
      </a:accent6>
      <a:hlink>
        <a:srgbClr val="FF8A2A"/>
      </a:hlink>
      <a:folHlink>
        <a:srgbClr val="86B29B"/>
      </a:folHlink>
    </a:clrScheme>
    <a:fontScheme name="qBotica WindowBid">
      <a:majorFont>
        <a:latin typeface="Arial Narr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qBotica WindowBid</dc:title>
  <dc:subject>PptxGenJS Presentation</dc:subject>
  <dc:creator>Poojitha Madhyala</dc:creator>
  <cp:lastModifiedBy>Poojitha Madhyala</cp:lastModifiedBy>
  <cp:revision>1</cp:revision>
  <dcterms:created xsi:type="dcterms:W3CDTF">2026-10-06T16:06:29Z</dcterms:created>
  <dcterms:modified xsi:type="dcterms:W3CDTF">2026-10-06T16:06:29Z</dcterms:modified>
</cp:coreProperties>
</file>